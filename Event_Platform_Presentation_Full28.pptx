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name is Dhruv Rathore, and over the past six weeks at ISTRAC Lucknow I designed and built a prototype platform that can ingest, parse, and monitor data from any source in real time, without knowing the format of that data in advance. I'll walk you through the problem, the architecture, what I built, and where this goes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 ground station, data comes from many directions at once — network equipment, application logs, system telemetry, custom protocols. The challenge isn't collecting one type of data well. It's collecting any type of data, without rebuilding the system every time a new source 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I was given was direct: build something that can take in any kind of data and make sense of it live, without assuming what that data looks like ahead of time. That single constraint — any format — is what shaped every architectural decision after this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Given the six-week window, I scoped this deliberately as a complete, working prototype rather than a partially-built production system. Every layer you'll see actually runs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instinct when you see different data formats is to write a handler for each one. I deliberately avoided that. Instead the system has one universal pipeline that detects format dynamically and routes accordingly — so tomorrow's unknown source doesn't require touching today's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 data path. Every event — regardless of source — passes through these exact eight stages. I'll walk through each one on the following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technology here was chosen for a specific reason, not by default. I'm happy to go deeper into any of these choices during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receiver's only responsibility is to accept data and tag it with metadata — where it came from, when it arrived. It never tries to understand the content. That separation is what keeps the system extensible.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any-format requirement. Instead of one parser trying to handle everything, I built a chain of small, focused parsers that each declare whether they can handle a given input. The pipeline tries each one in order until something succeeds.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makes the dashboard format-agnostic. No matter what came in — JSON, key-value, anything — it leaves this layer in exactly the same shape. The frontend never needs to know what kind of data it's looking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deliberately did not try to force one database to do everything. Each store here is doing the one thing it's architecturally best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moment data is sent to this system, to the moment it appears live on screen — fully parsed and labeled — takes under one second. That includes going through Kafka, the parser, the normalizer, and three storage writes.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as a prototype, I implemented production-pattern authentication — not a toy login form. Tokens are stored in httpOnly cookies specifically to prevent client-side script access, and refresh tokens are tracked server-side so they can be revoked.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schema was designed for multi-tenancy from day one, even though this prototype runs a single default tenant. That means the system is already structured to support multiple organizations or teams without redesign.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what this looks like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moment that validated the entire architecture for me. I had one machine pushing data over HTTP and a completely separate Kafka producer pushing data on another topic — and both streams merged seamlessly into one live view, with neither needing to know about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Despite crossing eight separate processing stages — including three separate database writes — the system consistently delivered events to the live dashboard in under one second. That's not a shortcut path; every event goes through full parsing and persistence in that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weren't surface-level bugs. For example, one issue took the broker down with a NodeExists exception — the cause was stale state in Zookeeper from a previous container lifecycle, not anything wrong with my code. Diagnosing that required understanding how Kafka and Zookeeper maintain broker registration.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major component had at least one viable alternative. I want to walk through why I picked what I picked, because the reasoning matters more than the choice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natural next phase. The database schema for alerts already exists — what remains is the rule evaluation engine and notification delivery. Similarly, the parser plugin architecture makes adding CSV or Syslog support a contained, well-defined task. None of this requires redesigning what's already been built and validated.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Scalability wasn't an afterthought bolted on — it's a property of how the services were separated from the beginning. None of them hold critical state that prevents adding more replicas.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what's actually working right now: a complete pipeline, validated under real conditions, supporting at least two genuinely different source types simultaneously, with everything persisted and protected behind authentication.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relevance here isn't this specific prototype — it's the pattern. Ground stations will always be acquiring new equipment and new data sources. A monitoring layer that doesn't need to be rebuilt every time has long-term operational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direct about what this prototype does not yet do. These aren't oversights — they're scoped decisions given the six-week timeframe, and each one has a clear path forward, which I've already covered in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technical stack, this project taught me how to debug systems where the failure isn't in your code but in the interaction between services — which is a very different skill from debugging a single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I'm presenting today isn't a concept — it's a working system you could see running right now. It proves the architecture, validates the core requirement, and gives ISTRAC a concrete foundation to build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I'm happy to take any questions, and I can also walk through any part of the codebase or architecture in more depth if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4" name="Text 2"/>
          <p:cNvSpPr/>
          <p:nvPr/>
        </p:nvSpPr>
        <p:spPr>
          <a:xfrm>
            <a:off x="822960" y="1188720"/>
            <a:ext cx="10515600" cy="365760"/>
          </a:xfrm>
          <a:prstGeom prst="rect">
            <a:avLst/>
          </a:prstGeom>
          <a:noFill/>
        </p:spPr>
        <p:txBody>
          <a:bodyPr wrap="square" rtlCol="0" anchor="ctr"/>
          <a:lstStyle/>
          <a:p>
            <a:pPr marL="0" indent="0">
              <a:buNone/>
            </a:pPr>
            <a:r>
              <a:rPr lang="en-US" sz="1400" kern="0" spc="300" dirty="0">
                <a:solidFill>
                  <a:srgbClr val="CADCFC"/>
                </a:solidFill>
                <a:latin typeface="Calibri" panose="020F0502020204030204" pitchFamily="34" charset="0"/>
                <a:ea typeface="Calibri" panose="020F0502020204030204" pitchFamily="34" charset="-122"/>
                <a:cs typeface="Calibri" panose="020F0502020204030204" pitchFamily="34" charset="-120"/>
              </a:rPr>
              <a:t>SUMMER INTERNSHIP PROJECT</a:t>
            </a:r>
            <a:endParaRPr lang="en-US" sz="1400" dirty="0"/>
          </a:p>
        </p:txBody>
      </p:sp>
      <p:sp>
        <p:nvSpPr>
          <p:cNvPr id="5" name="Text 3"/>
          <p:cNvSpPr/>
          <p:nvPr/>
        </p:nvSpPr>
        <p:spPr>
          <a:xfrm>
            <a:off x="822960" y="1737360"/>
            <a:ext cx="10515600" cy="1645920"/>
          </a:xfrm>
          <a:prstGeom prst="rect">
            <a:avLst/>
          </a:prstGeom>
          <a:noFill/>
        </p:spPr>
        <p:txBody>
          <a:bodyPr wrap="square" rtlCol="0" anchor="ctr"/>
          <a:lstStyle/>
          <a:p>
            <a:pPr marL="0" indent="0">
              <a:buNone/>
            </a:pPr>
            <a:r>
              <a:rPr lang="en-US" sz="4000" b="1" dirty="0">
                <a:solidFill>
                  <a:srgbClr val="FFFFFF"/>
                </a:solidFill>
                <a:latin typeface="Cambria" panose="02040503050406030204" pitchFamily="34" charset="0"/>
                <a:ea typeface="Cambria" panose="02040503050406030204" pitchFamily="34" charset="-122"/>
                <a:cs typeface="Cambria" panose="02040503050406030204" pitchFamily="34" charset="-120"/>
              </a:rPr>
              <a:t>Universal Real-Time Event</a:t>
            </a:r>
            <a:endParaRPr lang="en-US" sz="4000" dirty="0"/>
          </a:p>
          <a:p>
            <a:pPr marL="0" indent="0">
              <a:buNone/>
            </a:pPr>
            <a:r>
              <a:rPr lang="en-US" sz="4000" b="1" dirty="0">
                <a:solidFill>
                  <a:srgbClr val="FFFFFF"/>
                </a:solidFill>
                <a:latin typeface="Cambria" panose="02040503050406030204" pitchFamily="34" charset="0"/>
                <a:ea typeface="Cambria" panose="02040503050406030204" pitchFamily="34" charset="-122"/>
                <a:cs typeface="Cambria" panose="02040503050406030204" pitchFamily="34" charset="-120"/>
              </a:rPr>
              <a:t>Ingestion and Observability Platform</a:t>
            </a:r>
            <a:endParaRPr lang="en-US" sz="4000" dirty="0"/>
          </a:p>
        </p:txBody>
      </p:sp>
      <p:sp>
        <p:nvSpPr>
          <p:cNvPr id="6" name="Text 4"/>
          <p:cNvSpPr/>
          <p:nvPr/>
        </p:nvSpPr>
        <p:spPr>
          <a:xfrm>
            <a:off x="822960" y="3429000"/>
            <a:ext cx="10058400" cy="457200"/>
          </a:xfrm>
          <a:prstGeom prst="rect">
            <a:avLst/>
          </a:prstGeom>
          <a:noFill/>
        </p:spPr>
        <p:txBody>
          <a:bodyPr wrap="square" rtlCol="0" anchor="ctr"/>
          <a:lstStyle/>
          <a:p>
            <a:pPr marL="0" indent="0">
              <a:buNone/>
            </a:pPr>
            <a:r>
              <a:rPr lang="en-US" sz="1600" i="1" dirty="0">
                <a:solidFill>
                  <a:srgbClr val="CADCFC"/>
                </a:solidFill>
                <a:latin typeface="Calibri" panose="020F0502020204030204" pitchFamily="34" charset="0"/>
                <a:ea typeface="Calibri" panose="020F0502020204030204" pitchFamily="34" charset="-122"/>
                <a:cs typeface="Calibri" panose="020F0502020204030204" pitchFamily="34" charset="-120"/>
              </a:rPr>
              <a:t>A Prototype for Unified, Format-Agnostic, Multi-Source Real-Time Data Monitoring</a:t>
            </a:r>
            <a:endParaRPr lang="en-US" sz="1600" dirty="0"/>
          </a:p>
        </p:txBody>
      </p:sp>
      <p:sp>
        <p:nvSpPr>
          <p:cNvPr id="7" name="Shape 5"/>
          <p:cNvSpPr/>
          <p:nvPr/>
        </p:nvSpPr>
        <p:spPr>
          <a:xfrm>
            <a:off x="822960" y="4114800"/>
            <a:ext cx="3657600" cy="0"/>
          </a:xfrm>
          <a:prstGeom prst="line">
            <a:avLst/>
          </a:prstGeom>
          <a:noFill/>
          <a:ln w="12700">
            <a:solidFill>
              <a:srgbClr val="CADCFC"/>
            </a:solidFill>
            <a:prstDash val="solid"/>
          </a:ln>
        </p:spPr>
      </p:sp>
      <p:sp>
        <p:nvSpPr>
          <p:cNvPr id="8" name="Text 6"/>
          <p:cNvSpPr/>
          <p:nvPr/>
        </p:nvSpPr>
        <p:spPr>
          <a:xfrm>
            <a:off x="822960" y="4389120"/>
            <a:ext cx="7315200" cy="2011680"/>
          </a:xfrm>
          <a:prstGeom prst="rect">
            <a:avLst/>
          </a:prstGeom>
          <a:noFill/>
        </p:spPr>
        <p:txBody>
          <a:bodyPr wrap="square" rtlCol="0" anchor="ctr"/>
          <a:lstStyle/>
          <a:p>
            <a:pPr marL="0" indent="0">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Dhruv Rathore</a:t>
            </a:r>
            <a:endParaRPr lang="en-US" sz="1800" dirty="0"/>
          </a:p>
          <a:p>
            <a:pPr marL="0" indent="0">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Roll No. 23052240 · KIIT University, CSE (3rd Year)</a:t>
            </a:r>
            <a:endParaRPr lang="en-US" sz="1800" dirty="0"/>
          </a:p>
          <a:p>
            <a:pPr marL="0" indent="0">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Summer Trainee, ISTRAC Lucknow, ISRO</a:t>
            </a:r>
            <a:endParaRPr lang="en-US" sz="1800" dirty="0"/>
          </a:p>
          <a:p>
            <a:pPr marL="0" indent="0">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Guide: Shri Anant Madhukar</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p:spPr>
        <p:txBody>
          <a:bodyPr wrap="square" rtlCol="0" anchor="ctr"/>
          <a:lstStyle/>
          <a:p>
            <a:pPr marL="0" indent="0">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Problem Statement</a:t>
            </a:r>
            <a:endParaRPr lang="en-US" sz="3000" dirty="0"/>
          </a:p>
        </p:txBody>
      </p:sp>
      <p:sp>
        <p:nvSpPr>
          <p:cNvPr id="3" name="Shape 1"/>
          <p:cNvSpPr/>
          <p:nvPr/>
        </p:nvSpPr>
        <p:spPr>
          <a:xfrm>
            <a:off x="640080" y="1554480"/>
            <a:ext cx="457200" cy="457200"/>
          </a:xfrm>
          <a:prstGeom prst="ellipse">
            <a:avLst/>
          </a:prstGeom>
          <a:solidFill>
            <a:srgbClr val="B85042"/>
          </a:solidFill>
        </p:spPr>
      </p:sp>
      <p:sp>
        <p:nvSpPr>
          <p:cNvPr id="4" name="Text 2"/>
          <p:cNvSpPr/>
          <p:nvPr/>
        </p:nvSpPr>
        <p:spPr>
          <a:xfrm>
            <a:off x="640080" y="1554480"/>
            <a:ext cx="457200" cy="457200"/>
          </a:xfrm>
          <a:prstGeom prst="rect">
            <a:avLst/>
          </a:prstGeom>
          <a:noFill/>
        </p:spPr>
        <p:txBody>
          <a:bodyPr wrap="square"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600" dirty="0"/>
          </a:p>
        </p:txBody>
      </p:sp>
      <p:sp>
        <p:nvSpPr>
          <p:cNvPr id="5" name="Text 3"/>
          <p:cNvSpPr/>
          <p:nvPr/>
        </p:nvSpPr>
        <p:spPr>
          <a:xfrm>
            <a:off x="1280160" y="1508760"/>
            <a:ext cx="3657600" cy="457200"/>
          </a:xfrm>
          <a:prstGeom prst="rect">
            <a:avLst/>
          </a:prstGeom>
          <a:noFill/>
        </p:spPr>
        <p:txBody>
          <a:bodyPr wrap="square" rtlCol="0" anchor="ctr"/>
          <a:lstStyle/>
          <a:p>
            <a:pPr marL="0" indent="0">
              <a:buNone/>
            </a:pPr>
            <a:r>
              <a:rPr lang="en-US" sz="1600" b="1" dirty="0">
                <a:solidFill>
                  <a:srgbClr val="1A1A1A"/>
                </a:solidFill>
                <a:latin typeface="Calibri" panose="020F0502020204030204" pitchFamily="34" charset="0"/>
                <a:ea typeface="Calibri" panose="020F0502020204030204" pitchFamily="34" charset="-122"/>
                <a:cs typeface="Calibri" panose="020F0502020204030204" pitchFamily="34" charset="-120"/>
              </a:rPr>
              <a:t>Heterogeneous Sources</a:t>
            </a:r>
            <a:endParaRPr lang="en-US" sz="1600" dirty="0"/>
          </a:p>
        </p:txBody>
      </p:sp>
      <p:sp>
        <p:nvSpPr>
          <p:cNvPr id="6" name="Text 4"/>
          <p:cNvSpPr/>
          <p:nvPr/>
        </p:nvSpPr>
        <p:spPr>
          <a:xfrm>
            <a:off x="1280160" y="1938528"/>
            <a:ext cx="9875520" cy="548640"/>
          </a:xfrm>
          <a:prstGeom prst="rect">
            <a:avLst/>
          </a:prstGeom>
          <a:noFill/>
        </p:spPr>
        <p:txBody>
          <a:bodyPr wrap="square" rtlCol="0" anchor="ctr"/>
          <a:lstStyle/>
          <a:p>
            <a:pPr marL="0" indent="0">
              <a:buNone/>
            </a:pPr>
            <a:r>
              <a:rPr lang="en-US" sz="1300" dirty="0">
                <a:solidFill>
                  <a:srgbClr val="5B6472"/>
                </a:solidFill>
                <a:latin typeface="Calibri" panose="020F0502020204030204" pitchFamily="34" charset="0"/>
                <a:ea typeface="Calibri" panose="020F0502020204030204" pitchFamily="34" charset="-122"/>
                <a:cs typeface="Calibri" panose="020F0502020204030204" pitchFamily="34" charset="-120"/>
              </a:rPr>
              <a:t>Ground station operations generate continuous data from network equipment, applications, and custom systems</a:t>
            </a:r>
            <a:endParaRPr lang="en-US" sz="1300" dirty="0"/>
          </a:p>
        </p:txBody>
      </p:sp>
      <p:sp>
        <p:nvSpPr>
          <p:cNvPr id="7" name="Shape 5"/>
          <p:cNvSpPr/>
          <p:nvPr/>
        </p:nvSpPr>
        <p:spPr>
          <a:xfrm>
            <a:off x="640080" y="2697480"/>
            <a:ext cx="457200" cy="457200"/>
          </a:xfrm>
          <a:prstGeom prst="ellipse">
            <a:avLst/>
          </a:prstGeom>
          <a:solidFill>
            <a:srgbClr val="065A82"/>
          </a:solidFill>
        </p:spPr>
      </p:sp>
      <p:sp>
        <p:nvSpPr>
          <p:cNvPr id="8" name="Text 6"/>
          <p:cNvSpPr/>
          <p:nvPr/>
        </p:nvSpPr>
        <p:spPr>
          <a:xfrm>
            <a:off x="640080" y="2697480"/>
            <a:ext cx="457200" cy="457200"/>
          </a:xfrm>
          <a:prstGeom prst="rect">
            <a:avLst/>
          </a:prstGeom>
          <a:noFill/>
        </p:spPr>
        <p:txBody>
          <a:bodyPr wrap="square"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600" dirty="0"/>
          </a:p>
        </p:txBody>
      </p:sp>
      <p:sp>
        <p:nvSpPr>
          <p:cNvPr id="9" name="Text 7"/>
          <p:cNvSpPr/>
          <p:nvPr/>
        </p:nvSpPr>
        <p:spPr>
          <a:xfrm>
            <a:off x="1280160" y="2651760"/>
            <a:ext cx="3657600" cy="457200"/>
          </a:xfrm>
          <a:prstGeom prst="rect">
            <a:avLst/>
          </a:prstGeom>
          <a:noFill/>
        </p:spPr>
        <p:txBody>
          <a:bodyPr wrap="square" rtlCol="0" anchor="ctr"/>
          <a:lstStyle/>
          <a:p>
            <a:pPr marL="0" indent="0">
              <a:buNone/>
            </a:pPr>
            <a:r>
              <a:rPr lang="en-US" sz="1600" b="1" dirty="0">
                <a:solidFill>
                  <a:srgbClr val="1A1A1A"/>
                </a:solidFill>
                <a:latin typeface="Calibri" panose="020F0502020204030204" pitchFamily="34" charset="0"/>
                <a:ea typeface="Calibri" panose="020F0502020204030204" pitchFamily="34" charset="-122"/>
                <a:cs typeface="Calibri" panose="020F0502020204030204" pitchFamily="34" charset="-120"/>
              </a:rPr>
              <a:t>No Common Format</a:t>
            </a:r>
            <a:endParaRPr lang="en-US" sz="1600" dirty="0"/>
          </a:p>
        </p:txBody>
      </p:sp>
      <p:sp>
        <p:nvSpPr>
          <p:cNvPr id="10" name="Text 8"/>
          <p:cNvSpPr/>
          <p:nvPr/>
        </p:nvSpPr>
        <p:spPr>
          <a:xfrm>
            <a:off x="1280160" y="3081528"/>
            <a:ext cx="9875520" cy="548640"/>
          </a:xfrm>
          <a:prstGeom prst="rect">
            <a:avLst/>
          </a:prstGeom>
          <a:noFill/>
        </p:spPr>
        <p:txBody>
          <a:bodyPr wrap="square" rtlCol="0" anchor="ctr"/>
          <a:lstStyle/>
          <a:p>
            <a:pPr marL="0" indent="0">
              <a:buNone/>
            </a:pPr>
            <a:r>
              <a:rPr lang="en-US" sz="1300" dirty="0">
                <a:solidFill>
                  <a:srgbClr val="5B6472"/>
                </a:solidFill>
                <a:latin typeface="Calibri" panose="020F0502020204030204" pitchFamily="34" charset="0"/>
                <a:ea typeface="Calibri" panose="020F0502020204030204" pitchFamily="34" charset="-122"/>
                <a:cs typeface="Calibri" panose="020F0502020204030204" pitchFamily="34" charset="-120"/>
              </a:rPr>
              <a:t>Each source speaks differently — structured, semi-structured, and unstructured data, all at once</a:t>
            </a:r>
            <a:endParaRPr lang="en-US" sz="1300" dirty="0"/>
          </a:p>
        </p:txBody>
      </p:sp>
      <p:sp>
        <p:nvSpPr>
          <p:cNvPr id="11" name="Shape 9"/>
          <p:cNvSpPr/>
          <p:nvPr/>
        </p:nvSpPr>
        <p:spPr>
          <a:xfrm>
            <a:off x="640080" y="3840480"/>
            <a:ext cx="457200" cy="457200"/>
          </a:xfrm>
          <a:prstGeom prst="ellipse">
            <a:avLst/>
          </a:prstGeom>
          <a:solidFill>
            <a:srgbClr val="854F0B"/>
          </a:solidFill>
        </p:spPr>
      </p:sp>
      <p:sp>
        <p:nvSpPr>
          <p:cNvPr id="12" name="Text 10"/>
          <p:cNvSpPr/>
          <p:nvPr/>
        </p:nvSpPr>
        <p:spPr>
          <a:xfrm>
            <a:off x="640080" y="3840480"/>
            <a:ext cx="457200" cy="457200"/>
          </a:xfrm>
          <a:prstGeom prst="rect">
            <a:avLst/>
          </a:prstGeom>
          <a:noFill/>
        </p:spPr>
        <p:txBody>
          <a:bodyPr wrap="square"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600" dirty="0"/>
          </a:p>
        </p:txBody>
      </p:sp>
      <p:sp>
        <p:nvSpPr>
          <p:cNvPr id="13" name="Text 11"/>
          <p:cNvSpPr/>
          <p:nvPr/>
        </p:nvSpPr>
        <p:spPr>
          <a:xfrm>
            <a:off x="1280160" y="3794760"/>
            <a:ext cx="3657600" cy="457200"/>
          </a:xfrm>
          <a:prstGeom prst="rect">
            <a:avLst/>
          </a:prstGeom>
          <a:noFill/>
        </p:spPr>
        <p:txBody>
          <a:bodyPr wrap="square" rtlCol="0" anchor="ctr"/>
          <a:lstStyle/>
          <a:p>
            <a:pPr marL="0" indent="0">
              <a:buNone/>
            </a:pPr>
            <a:r>
              <a:rPr lang="en-US" sz="1600" b="1" dirty="0">
                <a:solidFill>
                  <a:srgbClr val="1A1A1A"/>
                </a:solidFill>
                <a:latin typeface="Calibri" panose="020F0502020204030204" pitchFamily="34" charset="0"/>
                <a:ea typeface="Calibri" panose="020F0502020204030204" pitchFamily="34" charset="-122"/>
                <a:cs typeface="Calibri" panose="020F0502020204030204" pitchFamily="34" charset="-120"/>
              </a:rPr>
              <a:t>No Unified View</a:t>
            </a:r>
            <a:endParaRPr lang="en-US" sz="1600" dirty="0"/>
          </a:p>
        </p:txBody>
      </p:sp>
      <p:sp>
        <p:nvSpPr>
          <p:cNvPr id="14" name="Text 12"/>
          <p:cNvSpPr/>
          <p:nvPr/>
        </p:nvSpPr>
        <p:spPr>
          <a:xfrm>
            <a:off x="1280160" y="4224528"/>
            <a:ext cx="9875520" cy="548640"/>
          </a:xfrm>
          <a:prstGeom prst="rect">
            <a:avLst/>
          </a:prstGeom>
          <a:noFill/>
        </p:spPr>
        <p:txBody>
          <a:bodyPr wrap="square" rtlCol="0" anchor="ctr"/>
          <a:lstStyle/>
          <a:p>
            <a:pPr marL="0" indent="0">
              <a:buNone/>
            </a:pPr>
            <a:r>
              <a:rPr lang="en-US" sz="1300" dirty="0">
                <a:solidFill>
                  <a:srgbClr val="5B6472"/>
                </a:solidFill>
                <a:latin typeface="Calibri" panose="020F0502020204030204" pitchFamily="34" charset="0"/>
                <a:ea typeface="Calibri" panose="020F0502020204030204" pitchFamily="34" charset="-122"/>
                <a:cs typeface="Calibri" panose="020F0502020204030204" pitchFamily="34" charset="-120"/>
              </a:rPr>
              <a:t>No single platform exists to ingest, normalize, and visualize this data together in real time</a:t>
            </a:r>
            <a:endParaRPr lang="en-US" sz="1300" dirty="0"/>
          </a:p>
        </p:txBody>
      </p:sp>
      <p:sp>
        <p:nvSpPr>
          <p:cNvPr id="15" name="Shape 13"/>
          <p:cNvSpPr/>
          <p:nvPr/>
        </p:nvSpPr>
        <p:spPr>
          <a:xfrm>
            <a:off x="640080" y="4983480"/>
            <a:ext cx="457200" cy="457200"/>
          </a:xfrm>
          <a:prstGeom prst="ellipse">
            <a:avLst/>
          </a:prstGeom>
          <a:solidFill>
            <a:srgbClr val="2C5F2D"/>
          </a:solidFill>
        </p:spPr>
      </p:sp>
      <p:sp>
        <p:nvSpPr>
          <p:cNvPr id="16" name="Text 14"/>
          <p:cNvSpPr/>
          <p:nvPr/>
        </p:nvSpPr>
        <p:spPr>
          <a:xfrm>
            <a:off x="640080" y="4983480"/>
            <a:ext cx="457200" cy="457200"/>
          </a:xfrm>
          <a:prstGeom prst="rect">
            <a:avLst/>
          </a:prstGeom>
          <a:noFill/>
        </p:spPr>
        <p:txBody>
          <a:bodyPr wrap="square"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600" dirty="0"/>
          </a:p>
        </p:txBody>
      </p:sp>
      <p:sp>
        <p:nvSpPr>
          <p:cNvPr id="17" name="Text 15"/>
          <p:cNvSpPr/>
          <p:nvPr/>
        </p:nvSpPr>
        <p:spPr>
          <a:xfrm>
            <a:off x="1280160" y="4937760"/>
            <a:ext cx="3657600" cy="457200"/>
          </a:xfrm>
          <a:prstGeom prst="rect">
            <a:avLst/>
          </a:prstGeom>
          <a:noFill/>
        </p:spPr>
        <p:txBody>
          <a:bodyPr wrap="square" rtlCol="0" anchor="ctr"/>
          <a:lstStyle/>
          <a:p>
            <a:pPr marL="0" indent="0">
              <a:buNone/>
            </a:pPr>
            <a:r>
              <a:rPr lang="en-US" sz="1600" b="1" dirty="0">
                <a:solidFill>
                  <a:srgbClr val="1A1A1A"/>
                </a:solidFill>
                <a:latin typeface="Calibri" panose="020F0502020204030204" pitchFamily="34" charset="0"/>
                <a:ea typeface="Calibri" panose="020F0502020204030204" pitchFamily="34" charset="-122"/>
                <a:cs typeface="Calibri" panose="020F0502020204030204" pitchFamily="34" charset="-120"/>
              </a:rPr>
              <a:t>Doesn't Scale</a:t>
            </a:r>
            <a:endParaRPr lang="en-US" sz="1600" dirty="0"/>
          </a:p>
        </p:txBody>
      </p:sp>
      <p:sp>
        <p:nvSpPr>
          <p:cNvPr id="18" name="Text 16"/>
          <p:cNvSpPr/>
          <p:nvPr/>
        </p:nvSpPr>
        <p:spPr>
          <a:xfrm>
            <a:off x="1280160" y="5367528"/>
            <a:ext cx="9875520" cy="548640"/>
          </a:xfrm>
          <a:prstGeom prst="rect">
            <a:avLst/>
          </a:prstGeom>
          <a:noFill/>
        </p:spPr>
        <p:txBody>
          <a:bodyPr wrap="square" rtlCol="0" anchor="ctr"/>
          <a:lstStyle/>
          <a:p>
            <a:pPr marL="0" indent="0">
              <a:buNone/>
            </a:pPr>
            <a:r>
              <a:rPr lang="en-US" sz="1300" dirty="0">
                <a:solidFill>
                  <a:srgbClr val="5B6472"/>
                </a:solidFill>
                <a:latin typeface="Calibri" panose="020F0502020204030204" pitchFamily="34" charset="0"/>
                <a:ea typeface="Calibri" panose="020F0502020204030204" pitchFamily="34" charset="-122"/>
                <a:cs typeface="Calibri" panose="020F0502020204030204" pitchFamily="34" charset="-120"/>
              </a:rPr>
              <a:t>Operators need one consistent view — rebuilding integrations for every new source isn't sustainable</a:t>
            </a:r>
            <a:endParaRPr lang="en-US" sz="1300" dirty="0"/>
          </a:p>
        </p:txBody>
      </p:sp>
      <p:sp>
        <p:nvSpPr>
          <p:cNvPr id="19" name="Text 17"/>
          <p:cNvSpPr/>
          <p:nvPr/>
        </p:nvSpPr>
        <p:spPr>
          <a:xfrm>
            <a:off x="548640" y="6537960"/>
            <a:ext cx="7315200" cy="274320"/>
          </a:xfrm>
          <a:prstGeom prst="rect">
            <a:avLst/>
          </a:prstGeom>
          <a:noFill/>
        </p:spPr>
        <p:txBody>
          <a:bodyPr wrap="square" rtlCol="0" anchor="ctr"/>
          <a:lstStyle/>
          <a:p>
            <a:pPr marL="0" indent="0">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Dhruv Rathore · 23052240 · ISTRAC Lucknow</a:t>
            </a:r>
            <a:endParaRPr lang="en-US" sz="900" dirty="0"/>
          </a:p>
        </p:txBody>
      </p:sp>
      <p:sp>
        <p:nvSpPr>
          <p:cNvPr id="20" name="Text 18"/>
          <p:cNvSpPr/>
          <p:nvPr/>
        </p:nvSpPr>
        <p:spPr>
          <a:xfrm>
            <a:off x="11247120" y="6537960"/>
            <a:ext cx="548640" cy="274320"/>
          </a:xfrm>
          <a:prstGeom prst="rect">
            <a:avLst/>
          </a:prstGeom>
          <a:noFill/>
        </p:spPr>
        <p:txBody>
          <a:bodyPr wrap="square" rtlCol="0" anchor="ctr"/>
          <a:lstStyle/>
          <a:p>
            <a:pPr marL="0" indent="0" algn="r">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2 / 28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p:spPr>
        <p:txBody>
          <a:bodyPr wrap="square" rtlCol="0" anchor="ctr"/>
          <a:lstStyle/>
          <a:p>
            <a:pPr marL="0" indent="0">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Project Objective</a:t>
            </a:r>
            <a:endParaRPr lang="en-US" sz="3000" dirty="0"/>
          </a:p>
        </p:txBody>
      </p:sp>
      <p:sp>
        <p:nvSpPr>
          <p:cNvPr id="3" name="Text 1"/>
          <p:cNvSpPr/>
          <p:nvPr/>
        </p:nvSpPr>
        <p:spPr>
          <a:xfrm>
            <a:off x="548640" y="1463040"/>
            <a:ext cx="10972800" cy="548640"/>
          </a:xfrm>
          <a:prstGeom prst="rect">
            <a:avLst/>
          </a:prstGeom>
          <a:noFill/>
        </p:spPr>
        <p:txBody>
          <a:bodyPr wrap="square" rtlCol="0" anchor="ctr"/>
          <a:lstStyle/>
          <a:p>
            <a:pPr marL="0" indent="0">
              <a:buNone/>
            </a:pPr>
            <a:r>
              <a:rPr lang="en-US" sz="1600" i="1" dirty="0">
                <a:solidFill>
                  <a:srgbClr val="B85042"/>
                </a:solidFill>
                <a:latin typeface="Calibri" panose="020F0502020204030204" pitchFamily="34" charset="0"/>
                <a:ea typeface="Calibri" panose="020F0502020204030204" pitchFamily="34" charset="-122"/>
                <a:cs typeface="Calibri" panose="020F0502020204030204" pitchFamily="34" charset="-120"/>
              </a:rPr>
              <a:t>The brief: build a system that accepts ANY data, from ANY source, without assuming the format in advance.</a:t>
            </a:r>
            <a:endParaRPr lang="en-US" sz="1600" dirty="0"/>
          </a:p>
        </p:txBody>
      </p:sp>
      <p:sp>
        <p:nvSpPr>
          <p:cNvPr id="4" name="Shape 2"/>
          <p:cNvSpPr/>
          <p:nvPr/>
        </p:nvSpPr>
        <p:spPr>
          <a:xfrm>
            <a:off x="640080" y="2377440"/>
            <a:ext cx="3520440" cy="3108960"/>
          </a:xfrm>
          <a:prstGeom prst="roundRect">
            <a:avLst>
              <a:gd name="adj" fmla="val 3529"/>
            </a:avLst>
          </a:prstGeom>
          <a:solidFill>
            <a:srgbClr val="065A82"/>
          </a:solidFill>
          <a:effectLst>
            <a:outerShdw blurRad="101600" dist="38100" dir="2700000" algn="bl" rotWithShape="0">
              <a:srgbClr val="000000">
                <a:alpha val="15000"/>
              </a:srgbClr>
            </a:outerShdw>
          </a:effectLst>
        </p:spPr>
      </p:sp>
      <p:sp>
        <p:nvSpPr>
          <p:cNvPr id="5" name="Text 3"/>
          <p:cNvSpPr/>
          <p:nvPr/>
        </p:nvSpPr>
        <p:spPr>
          <a:xfrm>
            <a:off x="914400" y="2697480"/>
            <a:ext cx="2971800" cy="457200"/>
          </a:xfrm>
          <a:prstGeom prst="rect">
            <a:avLst/>
          </a:prstGeom>
          <a:noFill/>
        </p:spPr>
        <p:txBody>
          <a:bodyPr wrap="square" rtlCol="0" anchor="ctr"/>
          <a:lstStyle/>
          <a:p>
            <a:pPr marL="0" indent="0">
              <a:buNone/>
            </a:pPr>
            <a:r>
              <a:rPr lang="en-US" sz="2000" b="1" dirty="0">
                <a:solidFill>
                  <a:srgbClr val="FFFFFF"/>
                </a:solidFill>
                <a:latin typeface="Calibri" panose="020F0502020204030204" pitchFamily="34" charset="0"/>
                <a:ea typeface="Calibri" panose="020F0502020204030204" pitchFamily="34" charset="-122"/>
                <a:cs typeface="Calibri" panose="020F0502020204030204" pitchFamily="34" charset="-120"/>
              </a:rPr>
              <a:t>INGEST</a:t>
            </a:r>
            <a:endParaRPr lang="en-US" sz="2000" dirty="0"/>
          </a:p>
        </p:txBody>
      </p:sp>
      <p:sp>
        <p:nvSpPr>
          <p:cNvPr id="6" name="Text 4"/>
          <p:cNvSpPr/>
          <p:nvPr/>
        </p:nvSpPr>
        <p:spPr>
          <a:xfrm>
            <a:off x="914400" y="3291840"/>
            <a:ext cx="2971800" cy="2011680"/>
          </a:xfrm>
          <a:prstGeom prst="rect">
            <a:avLst/>
          </a:prstGeom>
          <a:noFill/>
        </p:spPr>
        <p:txBody>
          <a:bodyPr wrap="square" rtlCol="0" anchor="ctr"/>
          <a:lstStyle/>
          <a:p>
            <a:pPr marL="0" indent="0">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Accept raw data from any source — HTTP, Kafka, and beyond</a:t>
            </a:r>
            <a:endParaRPr lang="en-US" sz="1300" dirty="0"/>
          </a:p>
        </p:txBody>
      </p:sp>
      <p:sp>
        <p:nvSpPr>
          <p:cNvPr id="7" name="Shape 5"/>
          <p:cNvSpPr/>
          <p:nvPr/>
        </p:nvSpPr>
        <p:spPr>
          <a:xfrm>
            <a:off x="4434840" y="2377440"/>
            <a:ext cx="3520440" cy="3108960"/>
          </a:xfrm>
          <a:prstGeom prst="roundRect">
            <a:avLst>
              <a:gd name="adj" fmla="val 3529"/>
            </a:avLst>
          </a:prstGeom>
          <a:solidFill>
            <a:srgbClr val="854F0B"/>
          </a:solidFill>
          <a:effectLst>
            <a:outerShdw blurRad="101600" dist="38100" dir="2700000" algn="bl" rotWithShape="0">
              <a:srgbClr val="000000">
                <a:alpha val="15000"/>
              </a:srgbClr>
            </a:outerShdw>
          </a:effectLst>
        </p:spPr>
      </p:sp>
      <p:sp>
        <p:nvSpPr>
          <p:cNvPr id="8" name="Text 6"/>
          <p:cNvSpPr/>
          <p:nvPr/>
        </p:nvSpPr>
        <p:spPr>
          <a:xfrm>
            <a:off x="4709160" y="2697480"/>
            <a:ext cx="2971800" cy="457200"/>
          </a:xfrm>
          <a:prstGeom prst="rect">
            <a:avLst/>
          </a:prstGeom>
          <a:noFill/>
        </p:spPr>
        <p:txBody>
          <a:bodyPr wrap="square" rtlCol="0" anchor="ctr"/>
          <a:lstStyle/>
          <a:p>
            <a:pPr marL="0" indent="0">
              <a:buNone/>
            </a:pPr>
            <a:r>
              <a:rPr lang="en-US" sz="2000" b="1" dirty="0">
                <a:solidFill>
                  <a:srgbClr val="FFFFFF"/>
                </a:solidFill>
                <a:latin typeface="Calibri" panose="020F0502020204030204" pitchFamily="34" charset="0"/>
                <a:ea typeface="Calibri" panose="020F0502020204030204" pitchFamily="34" charset="-122"/>
                <a:cs typeface="Calibri" panose="020F0502020204030204" pitchFamily="34" charset="-120"/>
              </a:rPr>
              <a:t>NORMALIZE</a:t>
            </a:r>
            <a:endParaRPr lang="en-US" sz="2000" dirty="0"/>
          </a:p>
        </p:txBody>
      </p:sp>
      <p:sp>
        <p:nvSpPr>
          <p:cNvPr id="9" name="Text 7"/>
          <p:cNvSpPr/>
          <p:nvPr/>
        </p:nvSpPr>
        <p:spPr>
          <a:xfrm>
            <a:off x="4709160" y="3291840"/>
            <a:ext cx="2971800" cy="2011680"/>
          </a:xfrm>
          <a:prstGeom prst="rect">
            <a:avLst/>
          </a:prstGeom>
          <a:noFill/>
        </p:spPr>
        <p:txBody>
          <a:bodyPr wrap="square" rtlCol="0" anchor="ctr"/>
          <a:lstStyle/>
          <a:p>
            <a:pPr marL="0" indent="0">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Convert heterogeneous input into one consistent, queryable schema</a:t>
            </a:r>
            <a:endParaRPr lang="en-US" sz="1300" dirty="0"/>
          </a:p>
        </p:txBody>
      </p:sp>
      <p:sp>
        <p:nvSpPr>
          <p:cNvPr id="10" name="Shape 8"/>
          <p:cNvSpPr/>
          <p:nvPr/>
        </p:nvSpPr>
        <p:spPr>
          <a:xfrm>
            <a:off x="8229600" y="2377440"/>
            <a:ext cx="3520440" cy="3108960"/>
          </a:xfrm>
          <a:prstGeom prst="roundRect">
            <a:avLst>
              <a:gd name="adj" fmla="val 3529"/>
            </a:avLst>
          </a:prstGeom>
          <a:solidFill>
            <a:srgbClr val="2C5F2D"/>
          </a:solidFill>
          <a:effectLst>
            <a:outerShdw blurRad="101600" dist="38100" dir="2700000" algn="bl" rotWithShape="0">
              <a:srgbClr val="000000">
                <a:alpha val="15000"/>
              </a:srgbClr>
            </a:outerShdw>
          </a:effectLst>
        </p:spPr>
      </p:sp>
      <p:sp>
        <p:nvSpPr>
          <p:cNvPr id="11" name="Text 9"/>
          <p:cNvSpPr/>
          <p:nvPr/>
        </p:nvSpPr>
        <p:spPr>
          <a:xfrm>
            <a:off x="8503920" y="2697480"/>
            <a:ext cx="2971800" cy="457200"/>
          </a:xfrm>
          <a:prstGeom prst="rect">
            <a:avLst/>
          </a:prstGeom>
          <a:noFill/>
        </p:spPr>
        <p:txBody>
          <a:bodyPr wrap="square" rtlCol="0" anchor="ctr"/>
          <a:lstStyle/>
          <a:p>
            <a:pPr marL="0" indent="0">
              <a:buNone/>
            </a:pPr>
            <a:r>
              <a:rPr lang="en-US" sz="2000" b="1" dirty="0">
                <a:solidFill>
                  <a:srgbClr val="FFFFFF"/>
                </a:solidFill>
                <a:latin typeface="Calibri" panose="020F0502020204030204" pitchFamily="34" charset="0"/>
                <a:ea typeface="Calibri" panose="020F0502020204030204" pitchFamily="34" charset="-122"/>
                <a:cs typeface="Calibri" panose="020F0502020204030204" pitchFamily="34" charset="-120"/>
              </a:rPr>
              <a:t>VISUALIZE</a:t>
            </a:r>
            <a:endParaRPr lang="en-US" sz="2000" dirty="0"/>
          </a:p>
        </p:txBody>
      </p:sp>
      <p:sp>
        <p:nvSpPr>
          <p:cNvPr id="12" name="Text 10"/>
          <p:cNvSpPr/>
          <p:nvPr/>
        </p:nvSpPr>
        <p:spPr>
          <a:xfrm>
            <a:off x="8503920" y="3291840"/>
            <a:ext cx="2971800" cy="2011680"/>
          </a:xfrm>
          <a:prstGeom prst="rect">
            <a:avLst/>
          </a:prstGeom>
          <a:noFill/>
        </p:spPr>
        <p:txBody>
          <a:bodyPr wrap="square" rtlCol="0" anchor="ctr"/>
          <a:lstStyle/>
          <a:p>
            <a:pPr marL="0" indent="0">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Provide a live dashboard for real-time operational visibility</a:t>
            </a:r>
            <a:endParaRPr lang="en-US" sz="1300" dirty="0"/>
          </a:p>
        </p:txBody>
      </p:sp>
      <p:sp>
        <p:nvSpPr>
          <p:cNvPr id="13" name="Text 11"/>
          <p:cNvSpPr/>
          <p:nvPr/>
        </p:nvSpPr>
        <p:spPr>
          <a:xfrm>
            <a:off x="548640" y="6537960"/>
            <a:ext cx="7315200" cy="274320"/>
          </a:xfrm>
          <a:prstGeom prst="rect">
            <a:avLst/>
          </a:prstGeom>
          <a:noFill/>
        </p:spPr>
        <p:txBody>
          <a:bodyPr wrap="square" rtlCol="0" anchor="ctr"/>
          <a:lstStyle/>
          <a:p>
            <a:pPr marL="0" indent="0">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Dhruv Rathore · 23052240 · ISTRAC Lucknow</a:t>
            </a:r>
            <a:endParaRPr lang="en-US" sz="900" dirty="0"/>
          </a:p>
        </p:txBody>
      </p:sp>
      <p:sp>
        <p:nvSpPr>
          <p:cNvPr id="14" name="Text 12"/>
          <p:cNvSpPr/>
          <p:nvPr/>
        </p:nvSpPr>
        <p:spPr>
          <a:xfrm>
            <a:off x="11247120" y="6537960"/>
            <a:ext cx="548640" cy="274320"/>
          </a:xfrm>
          <a:prstGeom prst="rect">
            <a:avLst/>
          </a:prstGeom>
          <a:noFill/>
        </p:spPr>
        <p:txBody>
          <a:bodyPr wrap="square" rtlCol="0" anchor="ctr"/>
          <a:lstStyle/>
          <a:p>
            <a:pPr marL="0" indent="0" algn="r">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3 / 28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p:spPr>
        <p:txBody>
          <a:bodyPr wrap="square" rtlCol="0" anchor="ctr"/>
          <a:lstStyle/>
          <a:p>
            <a:pPr marL="0" indent="0">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Scope of Work</a:t>
            </a:r>
            <a:endParaRPr lang="en-US" sz="3000" dirty="0"/>
          </a:p>
        </p:txBody>
      </p:sp>
      <p:sp>
        <p:nvSpPr>
          <p:cNvPr id="3" name="Shape 1"/>
          <p:cNvSpPr/>
          <p:nvPr/>
        </p:nvSpPr>
        <p:spPr>
          <a:xfrm>
            <a:off x="548640" y="1554480"/>
            <a:ext cx="5394960" cy="4297680"/>
          </a:xfrm>
          <a:prstGeom prst="roundRect">
            <a:avLst>
              <a:gd name="adj" fmla="val 2128"/>
            </a:avLst>
          </a:prstGeom>
          <a:solidFill>
            <a:srgbClr val="EAF3DE"/>
          </a:solidFill>
        </p:spPr>
      </p:sp>
      <p:sp>
        <p:nvSpPr>
          <p:cNvPr id="4" name="Text 2"/>
          <p:cNvSpPr/>
          <p:nvPr/>
        </p:nvSpPr>
        <p:spPr>
          <a:xfrm>
            <a:off x="868680" y="1783080"/>
            <a:ext cx="4754880" cy="411480"/>
          </a:xfrm>
          <a:prstGeom prst="rect">
            <a:avLst/>
          </a:prstGeom>
          <a:noFill/>
        </p:spPr>
        <p:txBody>
          <a:bodyPr wrap="square" rtlCol="0" anchor="ctr"/>
          <a:lstStyle/>
          <a:p>
            <a:pPr marL="0" indent="0">
              <a:buNone/>
            </a:pPr>
            <a:r>
              <a:rPr lang="en-US" sz="1700" b="1" dirty="0">
                <a:solidFill>
                  <a:srgbClr val="2C5F2D"/>
                </a:solidFill>
                <a:latin typeface="Calibri" panose="020F0502020204030204" pitchFamily="34" charset="0"/>
                <a:ea typeface="Calibri" panose="020F0502020204030204" pitchFamily="34" charset="-122"/>
                <a:cs typeface="Calibri" panose="020F0502020204030204" pitchFamily="34" charset="-120"/>
              </a:rPr>
              <a:t>Delivered in This Phase</a:t>
            </a:r>
            <a:endParaRPr lang="en-US" sz="1700" dirty="0"/>
          </a:p>
        </p:txBody>
      </p:sp>
      <p:sp>
        <p:nvSpPr>
          <p:cNvPr id="5" name="Text 3"/>
          <p:cNvSpPr/>
          <p:nvPr/>
        </p:nvSpPr>
        <p:spPr>
          <a:xfrm>
            <a:off x="868680" y="2286000"/>
            <a:ext cx="4754880" cy="3383280"/>
          </a:xfrm>
          <a:prstGeom prst="rect">
            <a:avLst/>
          </a:prstGeom>
          <a:noFill/>
        </p:spPr>
        <p:txBody>
          <a:bodyPr wrap="square" rtlCol="0" anchor="ctr"/>
          <a:lstStyle/>
          <a:p>
            <a:pPr marL="342900" indent="-342900">
              <a:spcAft>
                <a:spcPts val="1000"/>
              </a:spcAft>
              <a:buSzPct val="100000"/>
              <a:buChar char="•"/>
            </a:pPr>
            <a:r>
              <a:rPr lang="en-US" sz="1350" dirty="0">
                <a:solidFill>
                  <a:srgbClr val="1A1A1A"/>
                </a:solidFill>
                <a:latin typeface="Calibri" panose="020F0502020204030204" pitchFamily="34" charset="0"/>
                <a:ea typeface="Calibri" panose="020F0502020204030204" pitchFamily="34" charset="-122"/>
                <a:cs typeface="Calibri" panose="020F0502020204030204" pitchFamily="34" charset="-120"/>
              </a:rPr>
              <a:t>Complete ingestion pipeline (HTTP + Kafka)</a:t>
            </a:r>
            <a:endParaRPr lang="en-US" sz="1350" dirty="0"/>
          </a:p>
          <a:p>
            <a:pPr marL="342900" indent="-342900">
              <a:spcAft>
                <a:spcPts val="1000"/>
              </a:spcAft>
              <a:buSzPct val="100000"/>
              <a:buChar char="•"/>
            </a:pPr>
            <a:r>
              <a:rPr lang="en-US" sz="1350" dirty="0">
                <a:solidFill>
                  <a:srgbClr val="1A1A1A"/>
                </a:solidFill>
                <a:latin typeface="Calibri" panose="020F0502020204030204" pitchFamily="34" charset="0"/>
                <a:ea typeface="Calibri" panose="020F0502020204030204" pitchFamily="34" charset="-122"/>
                <a:cs typeface="Calibri" panose="020F0502020204030204" pitchFamily="34" charset="-120"/>
              </a:rPr>
              <a:t>Dynamic, format-agnostic parsing engine</a:t>
            </a:r>
            <a:endParaRPr lang="en-US" sz="1350" dirty="0"/>
          </a:p>
          <a:p>
            <a:pPr marL="342900" indent="-342900">
              <a:spcAft>
                <a:spcPts val="1000"/>
              </a:spcAft>
              <a:buSzPct val="100000"/>
              <a:buChar char="•"/>
            </a:pPr>
            <a:r>
              <a:rPr lang="en-US" sz="1350" dirty="0">
                <a:solidFill>
                  <a:srgbClr val="1A1A1A"/>
                </a:solidFill>
                <a:latin typeface="Calibri" panose="020F0502020204030204" pitchFamily="34" charset="0"/>
                <a:ea typeface="Calibri" panose="020F0502020204030204" pitchFamily="34" charset="-122"/>
                <a:cs typeface="Calibri" panose="020F0502020204030204" pitchFamily="34" charset="-120"/>
              </a:rPr>
              <a:t>Universal event normalization layer</a:t>
            </a:r>
            <a:endParaRPr lang="en-US" sz="1350" dirty="0"/>
          </a:p>
          <a:p>
            <a:pPr marL="342900" indent="-342900">
              <a:spcAft>
                <a:spcPts val="1000"/>
              </a:spcAft>
              <a:buSzPct val="100000"/>
              <a:buChar char="•"/>
            </a:pPr>
            <a:r>
              <a:rPr lang="en-US" sz="1350" dirty="0">
                <a:solidFill>
                  <a:srgbClr val="1A1A1A"/>
                </a:solidFill>
                <a:latin typeface="Calibri" panose="020F0502020204030204" pitchFamily="34" charset="0"/>
                <a:ea typeface="Calibri" panose="020F0502020204030204" pitchFamily="34" charset="-122"/>
                <a:cs typeface="Calibri" panose="020F0502020204030204" pitchFamily="34" charset="-120"/>
              </a:rPr>
              <a:t>Live real-time dashboard</a:t>
            </a:r>
            <a:endParaRPr lang="en-US" sz="1350" dirty="0"/>
          </a:p>
          <a:p>
            <a:pPr marL="342900" indent="-342900">
              <a:spcAft>
                <a:spcPts val="1000"/>
              </a:spcAft>
              <a:buSzPct val="100000"/>
              <a:buChar char="•"/>
            </a:pPr>
            <a:r>
              <a:rPr lang="en-US" sz="1350" dirty="0">
                <a:solidFill>
                  <a:srgbClr val="1A1A1A"/>
                </a:solidFill>
                <a:latin typeface="Calibri" panose="020F0502020204030204" pitchFamily="34" charset="0"/>
                <a:ea typeface="Calibri" panose="020F0502020204030204" pitchFamily="34" charset="-122"/>
                <a:cs typeface="Calibri" panose="020F0502020204030204" pitchFamily="34" charset="-120"/>
              </a:rPr>
              <a:t>Persistent multi-database storage</a:t>
            </a:r>
            <a:endParaRPr lang="en-US" sz="1350" dirty="0"/>
          </a:p>
          <a:p>
            <a:pPr marL="342900" indent="-342900">
              <a:spcAft>
                <a:spcPts val="1000"/>
              </a:spcAft>
              <a:buSzPct val="100000"/>
              <a:buChar char="•"/>
            </a:pPr>
            <a:r>
              <a:rPr lang="en-US" sz="1350" dirty="0">
                <a:solidFill>
                  <a:srgbClr val="1A1A1A"/>
                </a:solidFill>
                <a:latin typeface="Calibri" panose="020F0502020204030204" pitchFamily="34" charset="0"/>
                <a:ea typeface="Calibri" panose="020F0502020204030204" pitchFamily="34" charset="-122"/>
                <a:cs typeface="Calibri" panose="020F0502020204030204" pitchFamily="34" charset="-120"/>
              </a:rPr>
              <a:t>JWT authentication + API keys</a:t>
            </a:r>
            <a:endParaRPr lang="en-US" sz="1350" dirty="0"/>
          </a:p>
        </p:txBody>
      </p:sp>
      <p:sp>
        <p:nvSpPr>
          <p:cNvPr id="6" name="Shape 4"/>
          <p:cNvSpPr/>
          <p:nvPr/>
        </p:nvSpPr>
        <p:spPr>
          <a:xfrm>
            <a:off x="6217920" y="1554480"/>
            <a:ext cx="5394960" cy="4297680"/>
          </a:xfrm>
          <a:prstGeom prst="roundRect">
            <a:avLst>
              <a:gd name="adj" fmla="val 2128"/>
            </a:avLst>
          </a:prstGeom>
          <a:solidFill>
            <a:srgbClr val="F4F4F4"/>
          </a:solidFill>
        </p:spPr>
      </p:sp>
      <p:sp>
        <p:nvSpPr>
          <p:cNvPr id="7" name="Text 5"/>
          <p:cNvSpPr/>
          <p:nvPr/>
        </p:nvSpPr>
        <p:spPr>
          <a:xfrm>
            <a:off x="6537960" y="1783080"/>
            <a:ext cx="4754880" cy="411480"/>
          </a:xfrm>
          <a:prstGeom prst="rect">
            <a:avLst/>
          </a:prstGeom>
          <a:noFill/>
        </p:spPr>
        <p:txBody>
          <a:bodyPr wrap="square" rtlCol="0" anchor="ctr"/>
          <a:lstStyle/>
          <a:p>
            <a:pPr marL="0" indent="0">
              <a:buNone/>
            </a:pPr>
            <a:r>
              <a:rPr lang="en-US" sz="1700" b="1" dirty="0">
                <a:solidFill>
                  <a:srgbClr val="5B6472"/>
                </a:solidFill>
                <a:latin typeface="Calibri" panose="020F0502020204030204" pitchFamily="34" charset="0"/>
                <a:ea typeface="Calibri" panose="020F0502020204030204" pitchFamily="34" charset="-122"/>
                <a:cs typeface="Calibri" panose="020F0502020204030204" pitchFamily="34" charset="-120"/>
              </a:rPr>
              <a:t>Planned for Next Phase</a:t>
            </a:r>
            <a:endParaRPr lang="en-US" sz="1700" dirty="0"/>
          </a:p>
        </p:txBody>
      </p:sp>
      <p:sp>
        <p:nvSpPr>
          <p:cNvPr id="8" name="Text 6"/>
          <p:cNvSpPr/>
          <p:nvPr/>
        </p:nvSpPr>
        <p:spPr>
          <a:xfrm>
            <a:off x="6537960" y="2286000"/>
            <a:ext cx="4754880" cy="3383280"/>
          </a:xfrm>
          <a:prstGeom prst="rect">
            <a:avLst/>
          </a:prstGeom>
          <a:noFill/>
        </p:spPr>
        <p:txBody>
          <a:bodyPr wrap="square" rtlCol="0" anchor="ctr"/>
          <a:lstStyle/>
          <a:p>
            <a:pPr marL="342900" indent="-342900">
              <a:spcAft>
                <a:spcPts val="1000"/>
              </a:spcAft>
              <a:buSzPct val="100000"/>
              <a:buChar char="•"/>
            </a:pPr>
            <a:r>
              <a:rPr lang="en-US" sz="1350" dirty="0">
                <a:solidFill>
                  <a:srgbClr val="1A1A1A"/>
                </a:solidFill>
                <a:latin typeface="Calibri" panose="020F0502020204030204" pitchFamily="34" charset="0"/>
                <a:ea typeface="Calibri" panose="020F0502020204030204" pitchFamily="34" charset="-122"/>
                <a:cs typeface="Calibri" panose="020F0502020204030204" pitchFamily="34" charset="-120"/>
              </a:rPr>
              <a:t>Production hardening and security audit</a:t>
            </a:r>
            <a:endParaRPr lang="en-US" sz="1350" dirty="0"/>
          </a:p>
          <a:p>
            <a:pPr marL="342900" indent="-342900">
              <a:spcAft>
                <a:spcPts val="1000"/>
              </a:spcAft>
              <a:buSzPct val="100000"/>
              <a:buChar char="•"/>
            </a:pPr>
            <a:r>
              <a:rPr lang="en-US" sz="1350" dirty="0">
                <a:solidFill>
                  <a:srgbClr val="1A1A1A"/>
                </a:solidFill>
                <a:latin typeface="Calibri" panose="020F0502020204030204" pitchFamily="34" charset="0"/>
                <a:ea typeface="Calibri" panose="020F0502020204030204" pitchFamily="34" charset="-122"/>
                <a:cs typeface="Calibri" panose="020F0502020204030204" pitchFamily="34" charset="-120"/>
              </a:rPr>
              <a:t>Formal load testing at scale</a:t>
            </a:r>
            <a:endParaRPr lang="en-US" sz="1350" dirty="0"/>
          </a:p>
          <a:p>
            <a:pPr marL="342900" indent="-342900">
              <a:spcAft>
                <a:spcPts val="1000"/>
              </a:spcAft>
              <a:buSzPct val="100000"/>
              <a:buChar char="•"/>
            </a:pPr>
            <a:r>
              <a:rPr lang="en-US" sz="1350" dirty="0">
                <a:solidFill>
                  <a:srgbClr val="1A1A1A"/>
                </a:solidFill>
                <a:latin typeface="Calibri" panose="020F0502020204030204" pitchFamily="34" charset="0"/>
                <a:ea typeface="Calibri" panose="020F0502020204030204" pitchFamily="34" charset="-122"/>
                <a:cs typeface="Calibri" panose="020F0502020204030204" pitchFamily="34" charset="-120"/>
              </a:rPr>
              <a:t>Multi-region / Kubernetes deployment</a:t>
            </a:r>
            <a:endParaRPr lang="en-US" sz="1350" dirty="0"/>
          </a:p>
          <a:p>
            <a:pPr marL="342900" indent="-342900">
              <a:spcAft>
                <a:spcPts val="1000"/>
              </a:spcAft>
              <a:buSzPct val="100000"/>
              <a:buChar char="•"/>
            </a:pPr>
            <a:r>
              <a:rPr lang="en-US" sz="1350" dirty="0">
                <a:solidFill>
                  <a:srgbClr val="1A1A1A"/>
                </a:solidFill>
                <a:latin typeface="Calibri" panose="020F0502020204030204" pitchFamily="34" charset="0"/>
                <a:ea typeface="Calibri" panose="020F0502020204030204" pitchFamily="34" charset="-122"/>
                <a:cs typeface="Calibri" panose="020F0502020204030204" pitchFamily="34" charset="-120"/>
              </a:rPr>
              <a:t>Additional parsers (CSV, XML, Syslog)</a:t>
            </a:r>
            <a:endParaRPr lang="en-US" sz="1350" dirty="0"/>
          </a:p>
          <a:p>
            <a:pPr marL="342900" indent="-342900">
              <a:spcAft>
                <a:spcPts val="1000"/>
              </a:spcAft>
              <a:buSzPct val="100000"/>
              <a:buChar char="•"/>
            </a:pPr>
            <a:r>
              <a:rPr lang="en-US" sz="1350" dirty="0">
                <a:solidFill>
                  <a:srgbClr val="1A1A1A"/>
                </a:solidFill>
                <a:latin typeface="Calibri" panose="020F0502020204030204" pitchFamily="34" charset="0"/>
                <a:ea typeface="Calibri" panose="020F0502020204030204" pitchFamily="34" charset="-122"/>
                <a:cs typeface="Calibri" panose="020F0502020204030204" pitchFamily="34" charset="-120"/>
              </a:rPr>
              <a:t>Alert engine and notification delivery</a:t>
            </a:r>
            <a:endParaRPr lang="en-US" sz="1350" dirty="0"/>
          </a:p>
        </p:txBody>
      </p:sp>
      <p:sp>
        <p:nvSpPr>
          <p:cNvPr id="9" name="Text 7"/>
          <p:cNvSpPr/>
          <p:nvPr/>
        </p:nvSpPr>
        <p:spPr>
          <a:xfrm>
            <a:off x="548640" y="6537960"/>
            <a:ext cx="7315200" cy="274320"/>
          </a:xfrm>
          <a:prstGeom prst="rect">
            <a:avLst/>
          </a:prstGeom>
          <a:noFill/>
        </p:spPr>
        <p:txBody>
          <a:bodyPr wrap="square" rtlCol="0" anchor="ctr"/>
          <a:lstStyle/>
          <a:p>
            <a:pPr marL="0" indent="0">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Dhruv Rathore · 23052240 · ISTRAC Lucknow</a:t>
            </a:r>
            <a:endParaRPr lang="en-US" sz="900" dirty="0"/>
          </a:p>
        </p:txBody>
      </p:sp>
      <p:sp>
        <p:nvSpPr>
          <p:cNvPr id="10" name="Text 8"/>
          <p:cNvSpPr/>
          <p:nvPr/>
        </p:nvSpPr>
        <p:spPr>
          <a:xfrm>
            <a:off x="11247120" y="6537960"/>
            <a:ext cx="548640" cy="274320"/>
          </a:xfrm>
          <a:prstGeom prst="rect">
            <a:avLst/>
          </a:prstGeom>
          <a:noFill/>
        </p:spPr>
        <p:txBody>
          <a:bodyPr wrap="square" rtlCol="0" anchor="ctr"/>
          <a:lstStyle/>
          <a:p>
            <a:pPr marL="0" indent="0" algn="r">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4 / 28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p:spPr>
        <p:txBody>
          <a:bodyPr wrap="square" rtlCol="0" anchor="ctr"/>
          <a:lstStyle/>
          <a:p>
            <a:pPr marL="0" indent="0">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Why This Architecture</a:t>
            </a:r>
            <a:endParaRPr lang="en-US" sz="3000" dirty="0"/>
          </a:p>
        </p:txBody>
      </p:sp>
      <p:sp>
        <p:nvSpPr>
          <p:cNvPr id="3" name="Text 1"/>
          <p:cNvSpPr/>
          <p:nvPr/>
        </p:nvSpPr>
        <p:spPr>
          <a:xfrm>
            <a:off x="640080" y="1645920"/>
            <a:ext cx="5029200" cy="457200"/>
          </a:xfrm>
          <a:prstGeom prst="rect">
            <a:avLst/>
          </a:prstGeom>
          <a:noFill/>
        </p:spPr>
        <p:txBody>
          <a:bodyPr wrap="square" rtlCol="0" anchor="ctr"/>
          <a:lstStyle/>
          <a:p>
            <a:pPr marL="0" indent="0">
              <a:buNone/>
            </a:pPr>
            <a:r>
              <a:rPr lang="en-US" sz="1700" b="1" dirty="0">
                <a:solidFill>
                  <a:srgbClr val="B85042"/>
                </a:solidFill>
                <a:latin typeface="Calibri" panose="020F0502020204030204" pitchFamily="34" charset="0"/>
                <a:ea typeface="Calibri" panose="020F0502020204030204" pitchFamily="34" charset="-122"/>
                <a:cs typeface="Calibri" panose="020F0502020204030204" pitchFamily="34" charset="-120"/>
              </a:rPr>
              <a:t>The Wrong Approach</a:t>
            </a:r>
            <a:endParaRPr lang="en-US" sz="1700" dirty="0"/>
          </a:p>
        </p:txBody>
      </p:sp>
      <p:sp>
        <p:nvSpPr>
          <p:cNvPr id="4" name="Shape 2"/>
          <p:cNvSpPr/>
          <p:nvPr/>
        </p:nvSpPr>
        <p:spPr>
          <a:xfrm>
            <a:off x="640080" y="2194560"/>
            <a:ext cx="5120640" cy="3291840"/>
          </a:xfrm>
          <a:prstGeom prst="roundRect">
            <a:avLst>
              <a:gd name="adj" fmla="val 2778"/>
            </a:avLst>
          </a:prstGeom>
          <a:solidFill>
            <a:srgbClr val="FBEAF0"/>
          </a:solidFill>
        </p:spPr>
      </p:sp>
      <p:sp>
        <p:nvSpPr>
          <p:cNvPr id="5" name="Text 3"/>
          <p:cNvSpPr/>
          <p:nvPr/>
        </p:nvSpPr>
        <p:spPr>
          <a:xfrm>
            <a:off x="914400" y="2468880"/>
            <a:ext cx="4572000" cy="2743200"/>
          </a:xfrm>
          <a:prstGeom prst="rect">
            <a:avLst/>
          </a:prstGeom>
          <a:noFill/>
        </p:spPr>
        <p:txBody>
          <a:bodyPr wrap="square" rtlCol="0" anchor="ctr"/>
          <a:lstStyle/>
          <a:p>
            <a:pPr marL="342900" indent="-342900">
              <a:buSzPct val="100000"/>
              <a:buChar char="•"/>
            </a:pPr>
            <a:r>
              <a:rPr lang="en-US" sz="1500" strike="sngStrike" dirty="0">
                <a:solidFill>
                  <a:srgbClr val="72243E"/>
                </a:solidFill>
                <a:latin typeface="Courier New" panose="02070309020205020404" pitchFamily="34" charset="0"/>
                <a:ea typeface="Courier New" panose="02070309020205020404" pitchFamily="34" charset="-122"/>
                <a:cs typeface="Courier New" panose="02070309020205020404" pitchFamily="34" charset="-120"/>
              </a:rPr>
              <a:t>CiscoParser.ts</a:t>
            </a:r>
            <a:endParaRPr lang="en-US" sz="1500" dirty="0"/>
          </a:p>
          <a:p>
            <a:pPr marL="342900" indent="-342900">
              <a:buSzPct val="100000"/>
              <a:buChar char="•"/>
            </a:pPr>
            <a:r>
              <a:rPr lang="en-US" sz="1500" strike="sngStrike" dirty="0">
                <a:solidFill>
                  <a:srgbClr val="72243E"/>
                </a:solidFill>
                <a:latin typeface="Courier New" panose="02070309020205020404" pitchFamily="34" charset="0"/>
                <a:ea typeface="Courier New" panose="02070309020205020404" pitchFamily="34" charset="-122"/>
                <a:cs typeface="Courier New" panose="02070309020205020404" pitchFamily="34" charset="-120"/>
              </a:rPr>
              <a:t>FortinetParser.ts</a:t>
            </a:r>
            <a:endParaRPr lang="en-US" sz="1500" dirty="0"/>
          </a:p>
          <a:p>
            <a:pPr marL="342900" indent="-342900">
              <a:buSzPct val="100000"/>
              <a:buChar char="•"/>
            </a:pPr>
            <a:r>
              <a:rPr lang="en-US" sz="1500" strike="sngStrike" dirty="0">
                <a:solidFill>
                  <a:srgbClr val="72243E"/>
                </a:solidFill>
                <a:latin typeface="Courier New" panose="02070309020205020404" pitchFamily="34" charset="0"/>
                <a:ea typeface="Courier New" panose="02070309020205020404" pitchFamily="34" charset="-122"/>
                <a:cs typeface="Courier New" panose="02070309020205020404" pitchFamily="34" charset="-120"/>
              </a:rPr>
              <a:t>JuniperParser.ts</a:t>
            </a:r>
            <a:endParaRPr lang="en-US" sz="1500" dirty="0"/>
          </a:p>
          <a:p>
            <a:pPr marL="0" indent="0">
              <a:buNone/>
            </a:pPr>
            <a:r>
              <a:rPr lang="en-US" sz="1200" i="1" dirty="0">
                <a:solidFill>
                  <a:srgbClr val="72243E"/>
                </a:solidFill>
                <a:latin typeface="Courier New" panose="02070309020205020404" pitchFamily="34" charset="0"/>
                <a:ea typeface="Courier New" panose="02070309020205020404" pitchFamily="34" charset="-122"/>
                <a:cs typeface="Courier New" panose="02070309020205020404" pitchFamily="34" charset="-120"/>
              </a:rPr>
              <a:t>...one new file per source, forever</a:t>
            </a:r>
            <a:endParaRPr lang="en-US" sz="1500" dirty="0"/>
          </a:p>
        </p:txBody>
      </p:sp>
      <p:sp>
        <p:nvSpPr>
          <p:cNvPr id="6" name="Text 4"/>
          <p:cNvSpPr/>
          <p:nvPr/>
        </p:nvSpPr>
        <p:spPr>
          <a:xfrm>
            <a:off x="6355080" y="1645920"/>
            <a:ext cx="5212080" cy="457200"/>
          </a:xfrm>
          <a:prstGeom prst="rect">
            <a:avLst/>
          </a:prstGeom>
          <a:noFill/>
        </p:spPr>
        <p:txBody>
          <a:bodyPr wrap="square" rtlCol="0" anchor="ctr"/>
          <a:lstStyle/>
          <a:p>
            <a:pPr marL="0" indent="0">
              <a:buNone/>
            </a:pPr>
            <a:r>
              <a:rPr lang="en-US" sz="1700" b="1" dirty="0">
                <a:solidFill>
                  <a:srgbClr val="2C5F2D"/>
                </a:solidFill>
                <a:latin typeface="Calibri" panose="020F0502020204030204" pitchFamily="34" charset="0"/>
                <a:ea typeface="Calibri" panose="020F0502020204030204" pitchFamily="34" charset="-122"/>
                <a:cs typeface="Calibri" panose="020F0502020204030204" pitchFamily="34" charset="-120"/>
              </a:rPr>
              <a:t>The Approach Used Here</a:t>
            </a:r>
            <a:endParaRPr lang="en-US" sz="1700" dirty="0"/>
          </a:p>
        </p:txBody>
      </p:sp>
      <p:sp>
        <p:nvSpPr>
          <p:cNvPr id="7" name="Shape 5"/>
          <p:cNvSpPr/>
          <p:nvPr/>
        </p:nvSpPr>
        <p:spPr>
          <a:xfrm>
            <a:off x="6355080" y="2194560"/>
            <a:ext cx="5212080" cy="3291840"/>
          </a:xfrm>
          <a:prstGeom prst="roundRect">
            <a:avLst>
              <a:gd name="adj" fmla="val 2778"/>
            </a:avLst>
          </a:prstGeom>
          <a:solidFill>
            <a:srgbClr val="EAF3DE"/>
          </a:solidFill>
        </p:spPr>
      </p:sp>
      <p:sp>
        <p:nvSpPr>
          <p:cNvPr id="8" name="Text 6"/>
          <p:cNvSpPr/>
          <p:nvPr/>
        </p:nvSpPr>
        <p:spPr>
          <a:xfrm>
            <a:off x="6629400" y="2514600"/>
            <a:ext cx="4663440" cy="2743200"/>
          </a:xfrm>
          <a:prstGeom prst="rect">
            <a:avLst/>
          </a:prstGeom>
          <a:noFill/>
        </p:spPr>
        <p:txBody>
          <a:bodyPr wrap="square" rtlCol="0" anchor="ctr"/>
          <a:lstStyle/>
          <a:p>
            <a:pPr marL="0" indent="0">
              <a:buNone/>
            </a:pPr>
            <a:r>
              <a:rPr lang="en-US" sz="1400" b="1" dirty="0">
                <a:solidFill>
                  <a:srgbClr val="27500A"/>
                </a:solidFill>
                <a:latin typeface="Calibri" panose="020F0502020204030204" pitchFamily="34" charset="0"/>
                <a:ea typeface="Calibri" panose="020F0502020204030204" pitchFamily="34" charset="-122"/>
                <a:cs typeface="Calibri" panose="020F0502020204030204" pitchFamily="34" charset="-120"/>
              </a:rPr>
              <a:t>Receiver → Decoder → Parser Engine</a:t>
            </a:r>
            <a:endParaRPr lang="en-US" sz="1400" dirty="0"/>
          </a:p>
          <a:p>
            <a:pPr marL="0" indent="0">
              <a:buNone/>
            </a:pPr>
            <a:r>
              <a:rPr lang="en-US" sz="1400" b="1" dirty="0">
                <a:solidFill>
                  <a:srgbClr val="27500A"/>
                </a:solidFill>
                <a:latin typeface="Calibri" panose="020F0502020204030204" pitchFamily="34" charset="0"/>
                <a:ea typeface="Calibri" panose="020F0502020204030204" pitchFamily="34" charset="-122"/>
                <a:cs typeface="Calibri" panose="020F0502020204030204" pitchFamily="34" charset="-120"/>
              </a:rPr>
              <a:t>→ Normalizer → Storage → Dashboard</a:t>
            </a:r>
            <a:endParaRPr lang="en-US" sz="1400" dirty="0"/>
          </a:p>
          <a:p>
            <a:pPr marL="0" indent="0">
              <a:buNone/>
            </a:pPr>
            <a:r>
              <a:rPr lang="en-US" sz="1400" dirty="0">
                <a:solidFill>
                  <a:srgbClr val="27500A"/>
                </a:solidFill>
                <a:latin typeface="Calibri" panose="020F0502020204030204" pitchFamily="34" charset="0"/>
                <a:ea typeface="Calibri" panose="020F0502020204030204" pitchFamily="34" charset="-122"/>
                <a:cs typeface="Calibri" panose="020F0502020204030204" pitchFamily="34" charset="-120"/>
              </a:rPr>
              <a:t> </a:t>
            </a:r>
            <a:endParaRPr lang="en-US" sz="1400" dirty="0"/>
          </a:p>
          <a:p>
            <a:pPr marL="0" indent="0">
              <a:buNone/>
            </a:pPr>
            <a:r>
              <a:rPr lang="en-US" sz="1300" dirty="0">
                <a:solidFill>
                  <a:srgbClr val="27500A"/>
                </a:solidFill>
                <a:latin typeface="Calibri" panose="020F0502020204030204" pitchFamily="34" charset="0"/>
                <a:ea typeface="Calibri" panose="020F0502020204030204" pitchFamily="34" charset="-122"/>
                <a:cs typeface="Calibri" panose="020F0502020204030204" pitchFamily="34" charset="-120"/>
              </a:rPr>
              <a:t>One generic pipeline. New sources are</a:t>
            </a:r>
            <a:endParaRPr lang="en-US" sz="1400" dirty="0"/>
          </a:p>
          <a:p>
            <a:pPr marL="0" indent="0">
              <a:buNone/>
            </a:pPr>
            <a:r>
              <a:rPr lang="en-US" sz="1300" dirty="0">
                <a:solidFill>
                  <a:srgbClr val="27500A"/>
                </a:solidFill>
                <a:latin typeface="Calibri" panose="020F0502020204030204" pitchFamily="34" charset="0"/>
                <a:ea typeface="Calibri" panose="020F0502020204030204" pitchFamily="34" charset="-122"/>
                <a:cs typeface="Calibri" panose="020F0502020204030204" pitchFamily="34" charset="-120"/>
              </a:rPr>
              <a:t>added without touching existing code.</a:t>
            </a:r>
            <a:endParaRPr lang="en-US" sz="1400" dirty="0"/>
          </a:p>
        </p:txBody>
      </p:sp>
      <p:sp>
        <p:nvSpPr>
          <p:cNvPr id="9" name="Text 7"/>
          <p:cNvSpPr/>
          <p:nvPr/>
        </p:nvSpPr>
        <p:spPr>
          <a:xfrm>
            <a:off x="548640" y="6537960"/>
            <a:ext cx="7315200" cy="274320"/>
          </a:xfrm>
          <a:prstGeom prst="rect">
            <a:avLst/>
          </a:prstGeom>
          <a:noFill/>
        </p:spPr>
        <p:txBody>
          <a:bodyPr wrap="square" rtlCol="0" anchor="ctr"/>
          <a:lstStyle/>
          <a:p>
            <a:pPr marL="0" indent="0">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Dhruv Rathore · 23052240 · ISTRAC Lucknow</a:t>
            </a:r>
            <a:endParaRPr lang="en-US" sz="900" dirty="0"/>
          </a:p>
        </p:txBody>
      </p:sp>
      <p:sp>
        <p:nvSpPr>
          <p:cNvPr id="10" name="Text 8"/>
          <p:cNvSpPr/>
          <p:nvPr/>
        </p:nvSpPr>
        <p:spPr>
          <a:xfrm>
            <a:off x="11247120" y="6537960"/>
            <a:ext cx="548640" cy="274320"/>
          </a:xfrm>
          <a:prstGeom prst="rect">
            <a:avLst/>
          </a:prstGeom>
          <a:noFill/>
        </p:spPr>
        <p:txBody>
          <a:bodyPr wrap="square" rtlCol="0" anchor="ctr"/>
          <a:lstStyle/>
          <a:p>
            <a:pPr marL="0" indent="0" algn="r">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5 / 28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p:spPr>
        <p:txBody>
          <a:bodyPr wrap="square" rtlCol="0" anchor="ctr"/>
          <a:lstStyle/>
          <a:p>
            <a:pPr marL="0" indent="0">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System Architecture — Overview</a:t>
            </a:r>
            <a:endParaRPr lang="en-US" sz="3000" dirty="0"/>
          </a:p>
        </p:txBody>
      </p:sp>
      <p:pic>
        <p:nvPicPr>
          <p:cNvPr id="3" name="Image 0" descr="/home/claude/ppt_build/diagrams/architecture.png"/>
          <p:cNvPicPr>
            <a:picLocks noChangeAspect="1"/>
          </p:cNvPicPr>
          <p:nvPr/>
        </p:nvPicPr>
        <p:blipFill>
          <a:blip r:embed="rId1"/>
          <a:srcRect/>
          <a:stretch>
            <a:fillRect/>
          </a:stretch>
        </p:blipFill>
        <p:spPr>
          <a:xfrm>
            <a:off x="1005840" y="1417320"/>
            <a:ext cx="10149840" cy="5138928"/>
          </a:xfrm>
          <a:prstGeom prst="rect">
            <a:avLst/>
          </a:prstGeom>
        </p:spPr>
      </p:pic>
      <p:sp>
        <p:nvSpPr>
          <p:cNvPr id="4" name="Text 1"/>
          <p:cNvSpPr/>
          <p:nvPr/>
        </p:nvSpPr>
        <p:spPr>
          <a:xfrm>
            <a:off x="548640" y="6537960"/>
            <a:ext cx="7315200" cy="274320"/>
          </a:xfrm>
          <a:prstGeom prst="rect">
            <a:avLst/>
          </a:prstGeom>
          <a:noFill/>
        </p:spPr>
        <p:txBody>
          <a:bodyPr wrap="square" rtlCol="0" anchor="ctr"/>
          <a:lstStyle/>
          <a:p>
            <a:pPr marL="0" indent="0">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Dhruv Rathore · 23052240 · ISTRAC Lucknow</a:t>
            </a:r>
            <a:endParaRPr lang="en-US" sz="900" dirty="0"/>
          </a:p>
        </p:txBody>
      </p:sp>
      <p:sp>
        <p:nvSpPr>
          <p:cNvPr id="5" name="Text 2"/>
          <p:cNvSpPr/>
          <p:nvPr/>
        </p:nvSpPr>
        <p:spPr>
          <a:xfrm>
            <a:off x="11247120" y="6537960"/>
            <a:ext cx="548640" cy="274320"/>
          </a:xfrm>
          <a:prstGeom prst="rect">
            <a:avLst/>
          </a:prstGeom>
          <a:noFill/>
        </p:spPr>
        <p:txBody>
          <a:bodyPr wrap="square" rtlCol="0" anchor="ctr"/>
          <a:lstStyle/>
          <a:p>
            <a:pPr marL="0" indent="0" algn="r">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6 / 28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p:spPr>
        <p:txBody>
          <a:bodyPr wrap="square" rtlCol="0" anchor="ctr"/>
          <a:lstStyle/>
          <a:p>
            <a:pPr marL="0" indent="0">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Technology Stack</a:t>
            </a:r>
            <a:endParaRPr lang="en-US" sz="3000" dirty="0"/>
          </a:p>
        </p:txBody>
      </p:sp>
      <p:graphicFrame>
        <p:nvGraphicFramePr>
          <p:cNvPr id="8" name="Table 0"/>
          <p:cNvGraphicFramePr>
            <a:graphicFrameLocks noGrp="1"/>
          </p:cNvGraphicFramePr>
          <p:nvPr/>
        </p:nvGraphicFramePr>
        <p:xfrm>
          <a:off x="1463040" y="1508760"/>
          <a:ext cx="9235440" cy="4224528"/>
        </p:xfrm>
        <a:graphic>
          <a:graphicData uri="http://schemas.openxmlformats.org/drawingml/2006/table">
            <a:tbl>
              <a:tblPr/>
              <a:tblGrid>
                <a:gridCol w="4114800"/>
                <a:gridCol w="5120640"/>
              </a:tblGrid>
              <a:tr h="384048">
                <a:tc>
                  <a:txBody>
                    <a:bodyPr/>
                    <a:lstStyle/>
                    <a:p>
                      <a:pPr marL="0" indent="0">
                        <a:buNone/>
                      </a:pPr>
                      <a:r>
                        <a:rPr lang="en-US" sz="1300" b="1" dirty="0">
                          <a:solidFill>
                            <a:srgbClr val="FFFFFF"/>
                          </a:solidFill>
                        </a:rPr>
                        <a:t>Layer</a:t>
                      </a:r>
                      <a:endParaRPr lang="en-US" sz="13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rPr>
                        <a:t>Technology</a:t>
                      </a:r>
                      <a:endParaRPr lang="en-US" sz="13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E2761"/>
                    </a:solidFill>
                  </a:tcPr>
                </a:tc>
              </a:tr>
              <a:tr h="384048">
                <a:tc>
                  <a:txBody>
                    <a:bodyPr/>
                    <a:lstStyle/>
                    <a:p>
                      <a:pPr marL="0" indent="0">
                        <a:buNone/>
                      </a:pPr>
                      <a:r>
                        <a:rPr lang="en-US" sz="1250" dirty="0">
                          <a:solidFill>
                            <a:srgbClr val="1A1A1A"/>
                          </a:solidFill>
                        </a:rPr>
                        <a:t>Runtime</a:t>
                      </a:r>
                      <a:endParaRPr lang="en-US" sz="125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50" b="1" dirty="0">
                          <a:solidFill>
                            <a:srgbClr val="065A82"/>
                          </a:solidFill>
                        </a:rPr>
                        <a:t>Node.js 20, TypeScript</a:t>
                      </a:r>
                      <a:endParaRPr lang="en-US" sz="125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84048">
                <a:tc>
                  <a:txBody>
                    <a:bodyPr/>
                    <a:lstStyle/>
                    <a:p>
                      <a:pPr marL="0" indent="0">
                        <a:buNone/>
                      </a:pPr>
                      <a:r>
                        <a:rPr lang="en-US" sz="1250" dirty="0">
                          <a:solidFill>
                            <a:srgbClr val="1A1A1A"/>
                          </a:solidFill>
                        </a:rPr>
                        <a:t>API Framework</a:t>
                      </a:r>
                      <a:endParaRPr lang="en-US" sz="125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marL="0" indent="0">
                        <a:buNone/>
                      </a:pPr>
                      <a:r>
                        <a:rPr lang="en-US" sz="1250" b="1" dirty="0">
                          <a:solidFill>
                            <a:srgbClr val="065A82"/>
                          </a:solidFill>
                        </a:rPr>
                        <a:t>Fastify</a:t>
                      </a:r>
                      <a:endParaRPr lang="en-US" sz="125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r>
              <a:tr h="384048">
                <a:tc>
                  <a:txBody>
                    <a:bodyPr/>
                    <a:lstStyle/>
                    <a:p>
                      <a:pPr marL="0" indent="0">
                        <a:buNone/>
                      </a:pPr>
                      <a:r>
                        <a:rPr lang="en-US" sz="1250" dirty="0">
                          <a:solidFill>
                            <a:srgbClr val="1A1A1A"/>
                          </a:solidFill>
                        </a:rPr>
                        <a:t>Message Queue</a:t>
                      </a:r>
                      <a:endParaRPr lang="en-US" sz="125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50" b="1" dirty="0">
                          <a:solidFill>
                            <a:srgbClr val="065A82"/>
                          </a:solidFill>
                        </a:rPr>
                        <a:t>Apache Kafka</a:t>
                      </a:r>
                      <a:endParaRPr lang="en-US" sz="125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84048">
                <a:tc>
                  <a:txBody>
                    <a:bodyPr/>
                    <a:lstStyle/>
                    <a:p>
                      <a:pPr marL="0" indent="0">
                        <a:buNone/>
                      </a:pPr>
                      <a:r>
                        <a:rPr lang="en-US" sz="1250" dirty="0">
                          <a:solidFill>
                            <a:srgbClr val="1A1A1A"/>
                          </a:solidFill>
                        </a:rPr>
                        <a:t>Search</a:t>
                      </a:r>
                      <a:endParaRPr lang="en-US" sz="125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marL="0" indent="0">
                        <a:buNone/>
                      </a:pPr>
                      <a:r>
                        <a:rPr lang="en-US" sz="1250" b="1" dirty="0">
                          <a:solidFill>
                            <a:srgbClr val="065A82"/>
                          </a:solidFill>
                        </a:rPr>
                        <a:t>OpenSearch</a:t>
                      </a:r>
                      <a:endParaRPr lang="en-US" sz="125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r>
              <a:tr h="384048">
                <a:tc>
                  <a:txBody>
                    <a:bodyPr/>
                    <a:lstStyle/>
                    <a:p>
                      <a:pPr marL="0" indent="0">
                        <a:buNone/>
                      </a:pPr>
                      <a:r>
                        <a:rPr lang="en-US" sz="1250" dirty="0">
                          <a:solidFill>
                            <a:srgbClr val="1A1A1A"/>
                          </a:solidFill>
                        </a:rPr>
                        <a:t>Analytics (provisioned)</a:t>
                      </a:r>
                      <a:endParaRPr lang="en-US" sz="125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50" b="1" dirty="0">
                          <a:solidFill>
                            <a:srgbClr val="065A82"/>
                          </a:solidFill>
                        </a:rPr>
                        <a:t>ClickHouse</a:t>
                      </a:r>
                      <a:endParaRPr lang="en-US" sz="125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84048">
                <a:tc>
                  <a:txBody>
                    <a:bodyPr/>
                    <a:lstStyle/>
                    <a:p>
                      <a:pPr marL="0" indent="0">
                        <a:buNone/>
                      </a:pPr>
                      <a:r>
                        <a:rPr lang="en-US" sz="1250" dirty="0">
                          <a:solidFill>
                            <a:srgbClr val="1A1A1A"/>
                          </a:solidFill>
                        </a:rPr>
                        <a:t>Relational Store</a:t>
                      </a:r>
                      <a:endParaRPr lang="en-US" sz="125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marL="0" indent="0">
                        <a:buNone/>
                      </a:pPr>
                      <a:r>
                        <a:rPr lang="en-US" sz="1250" b="1" dirty="0">
                          <a:solidFill>
                            <a:srgbClr val="065A82"/>
                          </a:solidFill>
                        </a:rPr>
                        <a:t>PostgreSQL 16</a:t>
                      </a:r>
                      <a:endParaRPr lang="en-US" sz="125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r>
              <a:tr h="384048">
                <a:tc>
                  <a:txBody>
                    <a:bodyPr/>
                    <a:lstStyle/>
                    <a:p>
                      <a:pPr marL="0" indent="0">
                        <a:buNone/>
                      </a:pPr>
                      <a:r>
                        <a:rPr lang="en-US" sz="1250" dirty="0">
                          <a:solidFill>
                            <a:srgbClr val="1A1A1A"/>
                          </a:solidFill>
                        </a:rPr>
                        <a:t>Cache / Pub-Sub</a:t>
                      </a:r>
                      <a:endParaRPr lang="en-US" sz="125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50" b="1" dirty="0">
                          <a:solidFill>
                            <a:srgbClr val="065A82"/>
                          </a:solidFill>
                        </a:rPr>
                        <a:t>Redis 7</a:t>
                      </a:r>
                      <a:endParaRPr lang="en-US" sz="125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84048">
                <a:tc>
                  <a:txBody>
                    <a:bodyPr/>
                    <a:lstStyle/>
                    <a:p>
                      <a:pPr marL="0" indent="0">
                        <a:buNone/>
                      </a:pPr>
                      <a:r>
                        <a:rPr lang="en-US" sz="1250" dirty="0">
                          <a:solidFill>
                            <a:srgbClr val="1A1A1A"/>
                          </a:solidFill>
                        </a:rPr>
                        <a:t>Real-time Transport</a:t>
                      </a:r>
                      <a:endParaRPr lang="en-US" sz="125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marL="0" indent="0">
                        <a:buNone/>
                      </a:pPr>
                      <a:r>
                        <a:rPr lang="en-US" sz="1250" b="1" dirty="0">
                          <a:solidFill>
                            <a:srgbClr val="065A82"/>
                          </a:solidFill>
                        </a:rPr>
                        <a:t>Socket.io</a:t>
                      </a:r>
                      <a:endParaRPr lang="en-US" sz="125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r>
              <a:tr h="384048">
                <a:tc>
                  <a:txBody>
                    <a:bodyPr/>
                    <a:lstStyle/>
                    <a:p>
                      <a:pPr marL="0" indent="0">
                        <a:buNone/>
                      </a:pPr>
                      <a:r>
                        <a:rPr lang="en-US" sz="1250" dirty="0">
                          <a:solidFill>
                            <a:srgbClr val="1A1A1A"/>
                          </a:solidFill>
                        </a:rPr>
                        <a:t>Frontend</a:t>
                      </a:r>
                      <a:endParaRPr lang="en-US" sz="125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50" b="1" dirty="0">
                          <a:solidFill>
                            <a:srgbClr val="065A82"/>
                          </a:solidFill>
                        </a:rPr>
                        <a:t>Next.js 14</a:t>
                      </a:r>
                      <a:endParaRPr lang="en-US" sz="125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84048">
                <a:tc>
                  <a:txBody>
                    <a:bodyPr/>
                    <a:lstStyle/>
                    <a:p>
                      <a:pPr marL="0" indent="0">
                        <a:buNone/>
                      </a:pPr>
                      <a:r>
                        <a:rPr lang="en-US" sz="1250" dirty="0">
                          <a:solidFill>
                            <a:srgbClr val="1A1A1A"/>
                          </a:solidFill>
                        </a:rPr>
                        <a:t>Infrastructure</a:t>
                      </a:r>
                      <a:endParaRPr lang="en-US" sz="125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marL="0" indent="0">
                        <a:buNone/>
                      </a:pPr>
                      <a:r>
                        <a:rPr lang="en-US" sz="1250" b="1" dirty="0">
                          <a:solidFill>
                            <a:srgbClr val="065A82"/>
                          </a:solidFill>
                        </a:rPr>
                        <a:t>Docker, Docker Compose</a:t>
                      </a:r>
                      <a:endParaRPr lang="en-US" sz="125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r>
            </a:tbl>
          </a:graphicData>
        </a:graphic>
      </p:graphicFrame>
      <p:sp>
        <p:nvSpPr>
          <p:cNvPr id="4" name="Text 1"/>
          <p:cNvSpPr/>
          <p:nvPr/>
        </p:nvSpPr>
        <p:spPr>
          <a:xfrm>
            <a:off x="548640" y="6537960"/>
            <a:ext cx="7315200" cy="274320"/>
          </a:xfrm>
          <a:prstGeom prst="rect">
            <a:avLst/>
          </a:prstGeom>
          <a:noFill/>
        </p:spPr>
        <p:txBody>
          <a:bodyPr wrap="square" rtlCol="0" anchor="ctr"/>
          <a:lstStyle/>
          <a:p>
            <a:pPr marL="0" indent="0">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Dhruv Rathore · 23052240 · ISTRAC Lucknow</a:t>
            </a:r>
            <a:endParaRPr lang="en-US" sz="900" dirty="0"/>
          </a:p>
        </p:txBody>
      </p:sp>
      <p:sp>
        <p:nvSpPr>
          <p:cNvPr id="5" name="Text 2"/>
          <p:cNvSpPr/>
          <p:nvPr/>
        </p:nvSpPr>
        <p:spPr>
          <a:xfrm>
            <a:off x="11247120" y="6537960"/>
            <a:ext cx="548640" cy="274320"/>
          </a:xfrm>
          <a:prstGeom prst="rect">
            <a:avLst/>
          </a:prstGeom>
          <a:noFill/>
        </p:spPr>
        <p:txBody>
          <a:bodyPr wrap="square" rtlCol="0" anchor="ctr"/>
          <a:lstStyle/>
          <a:p>
            <a:pPr marL="0" indent="0" algn="r">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7 / 28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p:spPr>
        <p:txBody>
          <a:bodyPr wrap="square" rtlCol="0" anchor="ctr"/>
          <a:lstStyle/>
          <a:p>
            <a:pPr marL="0" indent="0">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Receiver Layer</a:t>
            </a:r>
            <a:endParaRPr lang="en-US" sz="3000" dirty="0"/>
          </a:p>
        </p:txBody>
      </p:sp>
      <p:sp>
        <p:nvSpPr>
          <p:cNvPr id="3" name="Text 1"/>
          <p:cNvSpPr/>
          <p:nvPr/>
        </p:nvSpPr>
        <p:spPr>
          <a:xfrm>
            <a:off x="640080" y="1554480"/>
            <a:ext cx="5394960" cy="4114800"/>
          </a:xfrm>
          <a:prstGeom prst="rect">
            <a:avLst/>
          </a:prstGeom>
          <a:noFill/>
        </p:spPr>
        <p:txBody>
          <a:bodyPr wrap="square" rtlCol="0" anchor="t"/>
          <a:lstStyle/>
          <a:p>
            <a:pPr marL="342900" indent="-342900">
              <a:spcAft>
                <a:spcPts val="1400"/>
              </a:spcAft>
              <a:buSzPct val="100000"/>
              <a:buChar char="•"/>
            </a:pPr>
            <a:r>
              <a:rPr lang="en-US" sz="1450" dirty="0">
                <a:solidFill>
                  <a:srgbClr val="1A1A1A"/>
                </a:solidFill>
                <a:latin typeface="Calibri" panose="020F0502020204030204" pitchFamily="34" charset="0"/>
                <a:ea typeface="Calibri" panose="020F0502020204030204" pitchFamily="34" charset="-122"/>
                <a:cs typeface="Calibri" panose="020F0502020204030204" pitchFamily="34" charset="-120"/>
              </a:rPr>
              <a:t>Accepts data via HTTP POST and Kafka topic consumption</a:t>
            </a:r>
            <a:endParaRPr lang="en-US" sz="1450" dirty="0"/>
          </a:p>
          <a:p>
            <a:pPr marL="342900" indent="-342900">
              <a:spcAft>
                <a:spcPts val="1400"/>
              </a:spcAft>
              <a:buSzPct val="100000"/>
              <a:buChar char="•"/>
            </a:pPr>
            <a:r>
              <a:rPr lang="en-US" sz="1450" dirty="0">
                <a:solidFill>
                  <a:srgbClr val="1A1A1A"/>
                </a:solidFill>
                <a:latin typeface="Calibri" panose="020F0502020204030204" pitchFamily="34" charset="0"/>
                <a:ea typeface="Calibri" panose="020F0502020204030204" pitchFamily="34" charset="-122"/>
                <a:cs typeface="Calibri" panose="020F0502020204030204" pitchFamily="34" charset="-120"/>
              </a:rPr>
              <a:t>Each receiver does exactly one job: wrap raw input into a standard envelope</a:t>
            </a:r>
            <a:endParaRPr lang="en-US" sz="1450" dirty="0"/>
          </a:p>
          <a:p>
            <a:pPr marL="342900" indent="-342900">
              <a:spcAft>
                <a:spcPts val="1400"/>
              </a:spcAft>
              <a:buSzPct val="100000"/>
              <a:buChar char="•"/>
            </a:pPr>
            <a:r>
              <a:rPr lang="en-US" sz="1450" dirty="0">
                <a:solidFill>
                  <a:srgbClr val="1A1A1A"/>
                </a:solidFill>
                <a:latin typeface="Calibri" panose="020F0502020204030204" pitchFamily="34" charset="0"/>
                <a:ea typeface="Calibri" panose="020F0502020204030204" pitchFamily="34" charset="-122"/>
                <a:cs typeface="Calibri" panose="020F0502020204030204" pitchFamily="34" charset="-120"/>
              </a:rPr>
              <a:t>No parsing or business logic happens here — pure ingestion</a:t>
            </a:r>
            <a:endParaRPr lang="en-US" sz="1450" dirty="0"/>
          </a:p>
          <a:p>
            <a:pPr marL="342900" indent="-342900">
              <a:spcAft>
                <a:spcPts val="1400"/>
              </a:spcAft>
              <a:buSzPct val="100000"/>
              <a:buChar char="•"/>
            </a:pPr>
            <a:r>
              <a:rPr lang="en-US" sz="1450" dirty="0">
                <a:solidFill>
                  <a:srgbClr val="1A1A1A"/>
                </a:solidFill>
                <a:latin typeface="Calibri" panose="020F0502020204030204" pitchFamily="34" charset="0"/>
                <a:ea typeface="Calibri" panose="020F0502020204030204" pitchFamily="34" charset="-122"/>
                <a:cs typeface="Calibri" panose="020F0502020204030204" pitchFamily="34" charset="-120"/>
              </a:rPr>
              <a:t>Validated working with both HTTP and external Kafka sources simultaneously</a:t>
            </a:r>
            <a:endParaRPr lang="en-US" sz="1450" dirty="0"/>
          </a:p>
        </p:txBody>
      </p:sp>
      <p:sp>
        <p:nvSpPr>
          <p:cNvPr id="4" name="Shape 2"/>
          <p:cNvSpPr/>
          <p:nvPr/>
        </p:nvSpPr>
        <p:spPr>
          <a:xfrm>
            <a:off x="6309360" y="1645920"/>
            <a:ext cx="5303520" cy="3931920"/>
          </a:xfrm>
          <a:prstGeom prst="roundRect">
            <a:avLst>
              <a:gd name="adj" fmla="val 1860"/>
            </a:avLst>
          </a:prstGeom>
          <a:solidFill>
            <a:srgbClr val="1A1A1A"/>
          </a:solidFill>
        </p:spPr>
      </p:sp>
      <p:sp>
        <p:nvSpPr>
          <p:cNvPr id="5" name="Text 3"/>
          <p:cNvSpPr/>
          <p:nvPr/>
        </p:nvSpPr>
        <p:spPr>
          <a:xfrm>
            <a:off x="6583680" y="1920240"/>
            <a:ext cx="4754880" cy="3383280"/>
          </a:xfrm>
          <a:prstGeom prst="rect">
            <a:avLst/>
          </a:prstGeom>
          <a:noFill/>
        </p:spPr>
        <p:txBody>
          <a:bodyPr wrap="square" rtlCol="0" anchor="ctr"/>
          <a:lstStyle/>
          <a:p>
            <a:pPr marL="0" indent="0">
              <a:buNone/>
            </a:pPr>
            <a:r>
              <a:rPr lang="en-US" sz="1400" dirty="0">
                <a:solidFill>
                  <a:srgbClr val="9CE0B8"/>
                </a:solidFill>
                <a:latin typeface="Courier New" panose="02070309020205020404" pitchFamily="34" charset="0"/>
                <a:ea typeface="Courier New" panose="02070309020205020404" pitchFamily="34" charset="-122"/>
                <a:cs typeface="Courier New" panose="02070309020205020404" pitchFamily="34" charset="-120"/>
              </a:rPr>
              <a:t>interface RawEnvelope {</a:t>
            </a:r>
            <a:endParaRPr lang="en-US" sz="1400" dirty="0"/>
          </a:p>
          <a:p>
            <a:pPr marL="0" indent="0">
              <a:buNone/>
            </a:pPr>
            <a:r>
              <a:rPr lang="en-US" sz="1400" dirty="0">
                <a:solidFill>
                  <a:srgbClr val="9CE0B8"/>
                </a:solidFill>
                <a:latin typeface="Courier New" panose="02070309020205020404" pitchFamily="34" charset="0"/>
                <a:ea typeface="Courier New" panose="02070309020205020404" pitchFamily="34" charset="-122"/>
                <a:cs typeface="Courier New" panose="02070309020205020404" pitchFamily="34" charset="-120"/>
              </a:rPr>
              <a:t>  id: string</a:t>
            </a:r>
            <a:endParaRPr lang="en-US" sz="1400" dirty="0"/>
          </a:p>
          <a:p>
            <a:pPr marL="0" indent="0">
              <a:buNone/>
            </a:pPr>
            <a:r>
              <a:rPr lang="en-US" sz="1400" dirty="0">
                <a:solidFill>
                  <a:srgbClr val="9CE0B8"/>
                </a:solidFill>
                <a:latin typeface="Courier New" panose="02070309020205020404" pitchFamily="34" charset="0"/>
                <a:ea typeface="Courier New" panose="02070309020205020404" pitchFamily="34" charset="-122"/>
                <a:cs typeface="Courier New" panose="02070309020205020404" pitchFamily="34" charset="-120"/>
              </a:rPr>
              <a:t>  rawData: string</a:t>
            </a:r>
            <a:endParaRPr lang="en-US" sz="1400" dirty="0"/>
          </a:p>
          <a:p>
            <a:pPr marL="0" indent="0">
              <a:buNone/>
            </a:pPr>
            <a:r>
              <a:rPr lang="en-US" sz="1400" dirty="0">
                <a:solidFill>
                  <a:srgbClr val="9CE0B8"/>
                </a:solidFill>
                <a:latin typeface="Courier New" panose="02070309020205020404" pitchFamily="34" charset="0"/>
                <a:ea typeface="Courier New" panose="02070309020205020404" pitchFamily="34" charset="-122"/>
                <a:cs typeface="Courier New" panose="02070309020205020404" pitchFamily="34" charset="-120"/>
              </a:rPr>
              <a:t>  sourceType: string</a:t>
            </a:r>
            <a:endParaRPr lang="en-US" sz="1400" dirty="0"/>
          </a:p>
          <a:p>
            <a:pPr marL="0" indent="0">
              <a:buNone/>
            </a:pPr>
            <a:r>
              <a:rPr lang="en-US" sz="1400" dirty="0">
                <a:solidFill>
                  <a:srgbClr val="9CE0B8"/>
                </a:solidFill>
                <a:latin typeface="Courier New" panose="02070309020205020404" pitchFamily="34" charset="0"/>
                <a:ea typeface="Courier New" panose="02070309020205020404" pitchFamily="34" charset="-122"/>
                <a:cs typeface="Courier New" panose="02070309020205020404" pitchFamily="34" charset="-120"/>
              </a:rPr>
              <a:t>  sourceId: string</a:t>
            </a:r>
            <a:endParaRPr lang="en-US" sz="1400" dirty="0"/>
          </a:p>
          <a:p>
            <a:pPr marL="0" indent="0">
              <a:buNone/>
            </a:pPr>
            <a:r>
              <a:rPr lang="en-US" sz="1400" dirty="0">
                <a:solidFill>
                  <a:srgbClr val="9CE0B8"/>
                </a:solidFill>
                <a:latin typeface="Courier New" panose="02070309020205020404" pitchFamily="34" charset="0"/>
                <a:ea typeface="Courier New" panose="02070309020205020404" pitchFamily="34" charset="-122"/>
                <a:cs typeface="Courier New" panose="02070309020205020404" pitchFamily="34" charset="-120"/>
              </a:rPr>
              <a:t>  receivedAt: number</a:t>
            </a:r>
            <a:endParaRPr lang="en-US" sz="1400" dirty="0"/>
          </a:p>
          <a:p>
            <a:pPr marL="0" indent="0">
              <a:buNone/>
            </a:pPr>
            <a:r>
              <a:rPr lang="en-US" sz="1400" dirty="0">
                <a:solidFill>
                  <a:srgbClr val="9CE0B8"/>
                </a:solidFill>
                <a:latin typeface="Courier New" panose="02070309020205020404" pitchFamily="34" charset="0"/>
                <a:ea typeface="Courier New" panose="02070309020205020404" pitchFamily="34" charset="-122"/>
                <a:cs typeface="Courier New" panose="02070309020205020404" pitchFamily="34" charset="-120"/>
              </a:rPr>
              <a:t>  meta: Record&lt;string, unknown&gt;</a:t>
            </a:r>
            <a:endParaRPr lang="en-US" sz="1400" dirty="0"/>
          </a:p>
          <a:p>
            <a:pPr marL="0" indent="0">
              <a:buNone/>
            </a:pPr>
            <a:r>
              <a:rPr lang="en-US" sz="1400" dirty="0">
                <a:solidFill>
                  <a:srgbClr val="9CE0B8"/>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p:txBody>
      </p:sp>
      <p:sp>
        <p:nvSpPr>
          <p:cNvPr id="6" name="Text 4"/>
          <p:cNvSpPr/>
          <p:nvPr/>
        </p:nvSpPr>
        <p:spPr>
          <a:xfrm>
            <a:off x="548640" y="6537960"/>
            <a:ext cx="7315200" cy="274320"/>
          </a:xfrm>
          <a:prstGeom prst="rect">
            <a:avLst/>
          </a:prstGeom>
          <a:noFill/>
        </p:spPr>
        <p:txBody>
          <a:bodyPr wrap="square" rtlCol="0" anchor="ctr"/>
          <a:lstStyle/>
          <a:p>
            <a:pPr marL="0" indent="0">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Dhruv Rathore · 23052240 · ISTRAC Lucknow</a:t>
            </a:r>
            <a:endParaRPr lang="en-US" sz="900" dirty="0"/>
          </a:p>
        </p:txBody>
      </p:sp>
      <p:sp>
        <p:nvSpPr>
          <p:cNvPr id="7" name="Text 5"/>
          <p:cNvSpPr/>
          <p:nvPr/>
        </p:nvSpPr>
        <p:spPr>
          <a:xfrm>
            <a:off x="11247120" y="6537960"/>
            <a:ext cx="548640" cy="274320"/>
          </a:xfrm>
          <a:prstGeom prst="rect">
            <a:avLst/>
          </a:prstGeom>
          <a:noFill/>
        </p:spPr>
        <p:txBody>
          <a:bodyPr wrap="square" rtlCol="0" anchor="ctr"/>
          <a:lstStyle/>
          <a:p>
            <a:pPr marL="0" indent="0" algn="r">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8 / 28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p:spPr>
        <p:txBody>
          <a:bodyPr wrap="square" rtlCol="0" anchor="ctr"/>
          <a:lstStyle/>
          <a:p>
            <a:pPr marL="0" indent="0">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Parser Engine — Plugin-Based Pipeline</a:t>
            </a:r>
            <a:endParaRPr lang="en-US" sz="3000" dirty="0"/>
          </a:p>
        </p:txBody>
      </p:sp>
      <p:pic>
        <p:nvPicPr>
          <p:cNvPr id="3" name="Image 0" descr="/home/claude/ppt_build/diagrams/parser_pipeline.png"/>
          <p:cNvPicPr>
            <a:picLocks noChangeAspect="1"/>
          </p:cNvPicPr>
          <p:nvPr/>
        </p:nvPicPr>
        <p:blipFill>
          <a:blip r:embed="rId1"/>
          <a:srcRect/>
          <a:stretch>
            <a:fillRect/>
          </a:stretch>
        </p:blipFill>
        <p:spPr>
          <a:xfrm>
            <a:off x="822960" y="1371600"/>
            <a:ext cx="10515600" cy="3364992"/>
          </a:xfrm>
          <a:prstGeom prst="rect">
            <a:avLst/>
          </a:prstGeom>
        </p:spPr>
      </p:pic>
      <p:sp>
        <p:nvSpPr>
          <p:cNvPr id="4" name="Text 1"/>
          <p:cNvSpPr/>
          <p:nvPr/>
        </p:nvSpPr>
        <p:spPr>
          <a:xfrm>
            <a:off x="822960" y="4892040"/>
            <a:ext cx="10515600" cy="457200"/>
          </a:xfrm>
          <a:prstGeom prst="rect">
            <a:avLst/>
          </a:prstGeom>
          <a:noFill/>
        </p:spPr>
        <p:txBody>
          <a:bodyPr wrap="square" rtlCol="0" anchor="ctr"/>
          <a:lstStyle/>
          <a:p>
            <a:pPr marL="0" indent="0" algn="ctr">
              <a:buNone/>
            </a:pPr>
            <a:r>
              <a:rPr lang="en-US" sz="1350" i="1" dirty="0">
                <a:solidFill>
                  <a:srgbClr val="5B6472"/>
                </a:solidFill>
                <a:latin typeface="Calibri" panose="020F0502020204030204" pitchFamily="34" charset="0"/>
                <a:ea typeface="Calibri" panose="020F0502020204030204" pitchFamily="34" charset="-122"/>
                <a:cs typeface="Calibri" panose="020F0502020204030204" pitchFamily="34" charset="-120"/>
              </a:rPr>
              <a:t>New parsers register canParse() and parse() — added without modifying the pipeline itself</a:t>
            </a:r>
            <a:endParaRPr lang="en-US" sz="1350" dirty="0"/>
          </a:p>
        </p:txBody>
      </p:sp>
      <p:sp>
        <p:nvSpPr>
          <p:cNvPr id="5" name="Text 2"/>
          <p:cNvSpPr/>
          <p:nvPr/>
        </p:nvSpPr>
        <p:spPr>
          <a:xfrm>
            <a:off x="548640" y="6537960"/>
            <a:ext cx="7315200" cy="274320"/>
          </a:xfrm>
          <a:prstGeom prst="rect">
            <a:avLst/>
          </a:prstGeom>
          <a:noFill/>
        </p:spPr>
        <p:txBody>
          <a:bodyPr wrap="square" rtlCol="0" anchor="ctr"/>
          <a:lstStyle/>
          <a:p>
            <a:pPr marL="0" indent="0">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Dhruv Rathore · 23052240 · ISTRAC Lucknow</a:t>
            </a:r>
            <a:endParaRPr lang="en-US" sz="900" dirty="0"/>
          </a:p>
        </p:txBody>
      </p:sp>
      <p:sp>
        <p:nvSpPr>
          <p:cNvPr id="6" name="Text 3"/>
          <p:cNvSpPr/>
          <p:nvPr/>
        </p:nvSpPr>
        <p:spPr>
          <a:xfrm>
            <a:off x="11247120" y="6537960"/>
            <a:ext cx="548640" cy="274320"/>
          </a:xfrm>
          <a:prstGeom prst="rect">
            <a:avLst/>
          </a:prstGeom>
          <a:noFill/>
        </p:spPr>
        <p:txBody>
          <a:bodyPr wrap="square" rtlCol="0" anchor="ctr"/>
          <a:lstStyle/>
          <a:p>
            <a:pPr marL="0" indent="0" algn="r">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9 / 28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p:spPr>
        <p:txBody>
          <a:bodyPr wrap="square" rtlCol="0" anchor="ctr"/>
          <a:lstStyle/>
          <a:p>
            <a:pPr marL="0" indent="0">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Normalization Layer</a:t>
            </a:r>
            <a:endParaRPr lang="en-US" sz="3000" dirty="0"/>
          </a:p>
        </p:txBody>
      </p:sp>
      <p:sp>
        <p:nvSpPr>
          <p:cNvPr id="3" name="Shape 1"/>
          <p:cNvSpPr/>
          <p:nvPr/>
        </p:nvSpPr>
        <p:spPr>
          <a:xfrm>
            <a:off x="548640" y="1554480"/>
            <a:ext cx="5029200" cy="3931920"/>
          </a:xfrm>
          <a:prstGeom prst="roundRect">
            <a:avLst>
              <a:gd name="adj" fmla="val 2326"/>
            </a:avLst>
          </a:prstGeom>
          <a:solidFill>
            <a:srgbClr val="F4F4F4"/>
          </a:solidFill>
        </p:spPr>
      </p:sp>
      <p:sp>
        <p:nvSpPr>
          <p:cNvPr id="4" name="Text 2"/>
          <p:cNvSpPr/>
          <p:nvPr/>
        </p:nvSpPr>
        <p:spPr>
          <a:xfrm>
            <a:off x="822960" y="1737360"/>
            <a:ext cx="4480560" cy="365760"/>
          </a:xfrm>
          <a:prstGeom prst="rect">
            <a:avLst/>
          </a:prstGeom>
          <a:noFill/>
        </p:spPr>
        <p:txBody>
          <a:bodyPr wrap="square" rtlCol="0" anchor="ctr"/>
          <a:lstStyle/>
          <a:p>
            <a:pPr marL="0" indent="0">
              <a:buNone/>
            </a:pPr>
            <a:r>
              <a:rPr lang="en-US" sz="1400" b="1" dirty="0">
                <a:solidFill>
                  <a:srgbClr val="5B6472"/>
                </a:solidFill>
                <a:latin typeface="Calibri" panose="020F0502020204030204" pitchFamily="34" charset="0"/>
                <a:ea typeface="Calibri" panose="020F0502020204030204" pitchFamily="34" charset="-122"/>
                <a:cs typeface="Calibri" panose="020F0502020204030204" pitchFamily="34" charset="-120"/>
              </a:rPr>
              <a:t>Before — Chaos</a:t>
            </a:r>
            <a:endParaRPr lang="en-US" sz="1400" dirty="0"/>
          </a:p>
        </p:txBody>
      </p:sp>
      <p:sp>
        <p:nvSpPr>
          <p:cNvPr id="5" name="Text 3"/>
          <p:cNvSpPr/>
          <p:nvPr/>
        </p:nvSpPr>
        <p:spPr>
          <a:xfrm>
            <a:off x="822960" y="2194560"/>
            <a:ext cx="4480560" cy="1463040"/>
          </a:xfrm>
          <a:prstGeom prst="rect">
            <a:avLst/>
          </a:prstGeom>
          <a:noFill/>
        </p:spPr>
        <p:txBody>
          <a:bodyPr wrap="square" rtlCol="0" anchor="ctr"/>
          <a:lstStyle/>
          <a:p>
            <a:pPr marL="0" indent="0">
              <a:buNone/>
            </a:pPr>
            <a:r>
              <a:rPr lang="en-US" sz="1200" dirty="0">
                <a:solidFill>
                  <a:srgbClr val="5B6472"/>
                </a:solidFill>
                <a:latin typeface="Courier New" panose="02070309020205020404" pitchFamily="34" charset="0"/>
                <a:ea typeface="Courier New" panose="02070309020205020404" pitchFamily="34" charset="-122"/>
                <a:cs typeface="Courier New" panose="02070309020205020404" pitchFamily="34" charset="-120"/>
              </a:rPr>
              <a:t>{level: 'err', msg: 'disk full'}</a:t>
            </a:r>
            <a:endParaRPr lang="en-US" sz="1200" dirty="0"/>
          </a:p>
          <a:p>
            <a:pPr marL="0" indent="0">
              <a:buNone/>
            </a:pPr>
            <a:r>
              <a:rPr lang="en-US" sz="1200" dirty="0">
                <a:solidFill>
                  <a:srgbClr val="5B6472"/>
                </a:solidFill>
                <a:latin typeface="Courier New" panose="02070309020205020404" pitchFamily="34" charset="0"/>
                <a:ea typeface="Courier New" panose="02070309020205020404" pitchFamily="34" charset="-122"/>
                <a:cs typeface="Courier New" panose="02070309020205020404" pitchFamily="34" charset="-120"/>
              </a:rPr>
              <a:t>level=warn host=db-02</a:t>
            </a:r>
            <a:endParaRPr lang="en-US" sz="1200" dirty="0"/>
          </a:p>
          <a:p>
            <a:pPr marL="0" indent="0">
              <a:buNone/>
            </a:pPr>
            <a:r>
              <a:rPr lang="en-US" sz="1200" dirty="0">
                <a:solidFill>
                  <a:srgbClr val="5B6472"/>
                </a:solidFill>
                <a:latin typeface="Courier New" panose="02070309020205020404" pitchFamily="34" charset="0"/>
                <a:ea typeface="Courier New" panose="02070309020205020404" pitchFamily="34" charset="-122"/>
                <a:cs typeface="Courier New" panose="02070309020205020404" pitchFamily="34" charset="-120"/>
              </a:rPr>
              <a:t>&lt;event&gt;&lt;sev&gt;info&lt;/sev&gt;&lt;/event&gt;</a:t>
            </a:r>
            <a:endParaRPr lang="en-US" sz="1200" dirty="0"/>
          </a:p>
        </p:txBody>
      </p:sp>
      <p:sp>
        <p:nvSpPr>
          <p:cNvPr id="6" name="Shape 4"/>
          <p:cNvSpPr/>
          <p:nvPr/>
        </p:nvSpPr>
        <p:spPr>
          <a:xfrm>
            <a:off x="5943600" y="3383280"/>
            <a:ext cx="457200" cy="9144"/>
          </a:xfrm>
          <a:prstGeom prst="rect">
            <a:avLst/>
          </a:prstGeom>
          <a:noFill/>
        </p:spPr>
      </p:sp>
      <p:sp>
        <p:nvSpPr>
          <p:cNvPr id="7" name="Text 5"/>
          <p:cNvSpPr/>
          <p:nvPr/>
        </p:nvSpPr>
        <p:spPr>
          <a:xfrm>
            <a:off x="5486400" y="3108960"/>
            <a:ext cx="914400" cy="731520"/>
          </a:xfrm>
          <a:prstGeom prst="rect">
            <a:avLst/>
          </a:prstGeom>
          <a:noFill/>
        </p:spPr>
        <p:txBody>
          <a:bodyPr wrap="square" rtlCol="0" anchor="ctr"/>
          <a:lstStyle/>
          <a:p>
            <a:pPr marL="0" indent="0" algn="ctr">
              <a:buNone/>
            </a:pPr>
            <a:r>
              <a:rPr lang="en-US" sz="3600" b="1" dirty="0">
                <a:solidFill>
                  <a:srgbClr val="B85042"/>
                </a:solidFill>
                <a:latin typeface="Calibri" panose="020F0502020204030204" pitchFamily="34" charset="0"/>
                <a:ea typeface="Calibri" panose="020F0502020204030204" pitchFamily="34" charset="-122"/>
                <a:cs typeface="Calibri" panose="020F0502020204030204" pitchFamily="34" charset="-120"/>
              </a:rPr>
              <a:t>→</a:t>
            </a:r>
            <a:endParaRPr lang="en-US" sz="3600" dirty="0"/>
          </a:p>
        </p:txBody>
      </p:sp>
      <p:sp>
        <p:nvSpPr>
          <p:cNvPr id="8" name="Shape 6"/>
          <p:cNvSpPr/>
          <p:nvPr/>
        </p:nvSpPr>
        <p:spPr>
          <a:xfrm>
            <a:off x="6583680" y="1554480"/>
            <a:ext cx="5029200" cy="3931920"/>
          </a:xfrm>
          <a:prstGeom prst="roundRect">
            <a:avLst>
              <a:gd name="adj" fmla="val 2326"/>
            </a:avLst>
          </a:prstGeom>
          <a:solidFill>
            <a:srgbClr val="EAF3DE"/>
          </a:solidFill>
        </p:spPr>
      </p:sp>
      <p:sp>
        <p:nvSpPr>
          <p:cNvPr id="9" name="Text 7"/>
          <p:cNvSpPr/>
          <p:nvPr/>
        </p:nvSpPr>
        <p:spPr>
          <a:xfrm>
            <a:off x="6858000" y="1737360"/>
            <a:ext cx="4480560" cy="365760"/>
          </a:xfrm>
          <a:prstGeom prst="rect">
            <a:avLst/>
          </a:prstGeom>
          <a:noFill/>
        </p:spPr>
        <p:txBody>
          <a:bodyPr wrap="square" rtlCol="0" anchor="ctr"/>
          <a:lstStyle/>
          <a:p>
            <a:pPr marL="0" indent="0">
              <a:buNone/>
            </a:pPr>
            <a:r>
              <a:rPr lang="en-US" sz="1400" b="1" dirty="0">
                <a:solidFill>
                  <a:srgbClr val="2C5F2D"/>
                </a:solidFill>
                <a:latin typeface="Calibri" panose="020F0502020204030204" pitchFamily="34" charset="0"/>
                <a:ea typeface="Calibri" panose="020F0502020204030204" pitchFamily="34" charset="-122"/>
                <a:cs typeface="Calibri" panose="020F0502020204030204" pitchFamily="34" charset="-120"/>
              </a:rPr>
              <a:t>After — One Schema</a:t>
            </a:r>
            <a:endParaRPr lang="en-US" sz="1400" dirty="0"/>
          </a:p>
        </p:txBody>
      </p:sp>
      <p:sp>
        <p:nvSpPr>
          <p:cNvPr id="10" name="Text 8"/>
          <p:cNvSpPr/>
          <p:nvPr/>
        </p:nvSpPr>
        <p:spPr>
          <a:xfrm>
            <a:off x="6858000" y="2194560"/>
            <a:ext cx="4480560" cy="2011680"/>
          </a:xfrm>
          <a:prstGeom prst="rect">
            <a:avLst/>
          </a:prstGeom>
          <a:noFill/>
        </p:spPr>
        <p:txBody>
          <a:bodyPr wrap="square" rtlCol="0" anchor="ctr"/>
          <a:lstStyle/>
          <a:p>
            <a:pPr marL="0" indent="0">
              <a:buNone/>
            </a:pPr>
            <a:r>
              <a:rPr lang="en-US" sz="1300" dirty="0">
                <a:solidFill>
                  <a:srgbClr val="27500A"/>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a:p>
            <a:pPr marL="0" indent="0">
              <a:buNone/>
            </a:pPr>
            <a:r>
              <a:rPr lang="en-US" sz="1300" dirty="0">
                <a:solidFill>
                  <a:srgbClr val="27500A"/>
                </a:solidFill>
                <a:latin typeface="Courier New" panose="02070309020205020404" pitchFamily="34" charset="0"/>
                <a:ea typeface="Courier New" panose="02070309020205020404" pitchFamily="34" charset="-122"/>
                <a:cs typeface="Courier New" panose="02070309020205020404" pitchFamily="34" charset="-120"/>
              </a:rPr>
              <a:t>  id, timestamp, source,</a:t>
            </a:r>
            <a:endParaRPr lang="en-US" sz="1300" dirty="0"/>
          </a:p>
          <a:p>
            <a:pPr marL="0" indent="0">
              <a:buNone/>
            </a:pPr>
            <a:r>
              <a:rPr lang="en-US" sz="1300" dirty="0">
                <a:solidFill>
                  <a:srgbClr val="27500A"/>
                </a:solidFill>
                <a:latin typeface="Courier New" panose="02070309020205020404" pitchFamily="34" charset="0"/>
                <a:ea typeface="Courier New" panose="02070309020205020404" pitchFamily="34" charset="-122"/>
                <a:cs typeface="Courier New" panose="02070309020205020404" pitchFamily="34" charset="-120"/>
              </a:rPr>
              <a:t>  severity, category, tags,</a:t>
            </a:r>
            <a:endParaRPr lang="en-US" sz="1300" dirty="0"/>
          </a:p>
          <a:p>
            <a:pPr marL="0" indent="0">
              <a:buNone/>
            </a:pPr>
            <a:r>
              <a:rPr lang="en-US" sz="1300" dirty="0">
                <a:solidFill>
                  <a:srgbClr val="27500A"/>
                </a:solidFill>
                <a:latin typeface="Courier New" panose="02070309020205020404" pitchFamily="34" charset="0"/>
                <a:ea typeface="Courier New" panose="02070309020205020404" pitchFamily="34" charset="-122"/>
                <a:cs typeface="Courier New" panose="02070309020205020404" pitchFamily="34" charset="-120"/>
              </a:rPr>
              <a:t>  raw,</a:t>
            </a:r>
            <a:endParaRPr lang="en-US" sz="1300" dirty="0"/>
          </a:p>
          <a:p>
            <a:pPr marL="0" indent="0">
              <a:buNone/>
            </a:pPr>
            <a:r>
              <a:rPr lang="en-US" sz="1300" dirty="0">
                <a:solidFill>
                  <a:srgbClr val="27500A"/>
                </a:solidFill>
                <a:latin typeface="Courier New" panose="02070309020205020404" pitchFamily="34" charset="0"/>
                <a:ea typeface="Courier New" panose="02070309020205020404" pitchFamily="34" charset="-122"/>
                <a:cs typeface="Courier New" panose="02070309020205020404" pitchFamily="34" charset="-120"/>
              </a:rPr>
              <a:t>  data: { ...dynamic fields }</a:t>
            </a:r>
            <a:endParaRPr lang="en-US" sz="1300" dirty="0"/>
          </a:p>
          <a:p>
            <a:pPr marL="0" indent="0">
              <a:buNone/>
            </a:pPr>
            <a:r>
              <a:rPr lang="en-US" sz="1300" dirty="0">
                <a:solidFill>
                  <a:srgbClr val="27500A"/>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p:txBody>
      </p:sp>
      <p:sp>
        <p:nvSpPr>
          <p:cNvPr id="11" name="Text 9"/>
          <p:cNvSpPr/>
          <p:nvPr/>
        </p:nvSpPr>
        <p:spPr>
          <a:xfrm>
            <a:off x="548640" y="6537960"/>
            <a:ext cx="7315200" cy="274320"/>
          </a:xfrm>
          <a:prstGeom prst="rect">
            <a:avLst/>
          </a:prstGeom>
          <a:noFill/>
        </p:spPr>
        <p:txBody>
          <a:bodyPr wrap="square" rtlCol="0" anchor="ctr"/>
          <a:lstStyle/>
          <a:p>
            <a:pPr marL="0" indent="0">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Dhruv Rathore · 23052240 · ISTRAC Lucknow</a:t>
            </a:r>
            <a:endParaRPr lang="en-US" sz="900" dirty="0"/>
          </a:p>
        </p:txBody>
      </p:sp>
      <p:sp>
        <p:nvSpPr>
          <p:cNvPr id="12" name="Text 10"/>
          <p:cNvSpPr/>
          <p:nvPr/>
        </p:nvSpPr>
        <p:spPr>
          <a:xfrm>
            <a:off x="11247120" y="6537960"/>
            <a:ext cx="548640" cy="274320"/>
          </a:xfrm>
          <a:prstGeom prst="rect">
            <a:avLst/>
          </a:prstGeom>
          <a:noFill/>
        </p:spPr>
        <p:txBody>
          <a:bodyPr wrap="square" rtlCol="0" anchor="ctr"/>
          <a:lstStyle/>
          <a:p>
            <a:pPr marL="0" indent="0" algn="r">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10 / 28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p:spPr>
        <p:txBody>
          <a:bodyPr wrap="square" rtlCol="0" anchor="ctr"/>
          <a:lstStyle/>
          <a:p>
            <a:pPr marL="0" indent="0">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Storage Strategy</a:t>
            </a:r>
            <a:endParaRPr lang="en-US" sz="3000" dirty="0"/>
          </a:p>
        </p:txBody>
      </p:sp>
      <p:sp>
        <p:nvSpPr>
          <p:cNvPr id="3" name="Shape 1"/>
          <p:cNvSpPr/>
          <p:nvPr/>
        </p:nvSpPr>
        <p:spPr>
          <a:xfrm>
            <a:off x="640080" y="1920240"/>
            <a:ext cx="2606040" cy="3291840"/>
          </a:xfrm>
          <a:prstGeom prst="roundRect">
            <a:avLst>
              <a:gd name="adj" fmla="val 3509"/>
            </a:avLst>
          </a:prstGeom>
          <a:solidFill>
            <a:srgbClr val="0F4C81"/>
          </a:solidFill>
          <a:effectLst>
            <a:outerShdw blurRad="76200" dist="25400" dir="2700000" algn="bl" rotWithShape="0">
              <a:srgbClr val="000000">
                <a:alpha val="12000"/>
              </a:srgbClr>
            </a:outerShdw>
          </a:effectLst>
        </p:spPr>
      </p:sp>
      <p:sp>
        <p:nvSpPr>
          <p:cNvPr id="4" name="Text 2"/>
          <p:cNvSpPr/>
          <p:nvPr/>
        </p:nvSpPr>
        <p:spPr>
          <a:xfrm>
            <a:off x="822960" y="2194560"/>
            <a:ext cx="2240280" cy="548640"/>
          </a:xfrm>
          <a:prstGeom prst="rect">
            <a:avLst/>
          </a:prstGeom>
          <a:noFill/>
        </p:spPr>
        <p:txBody>
          <a:bodyPr wrap="square" rtlCol="0" anchor="ctr"/>
          <a:lstStyle/>
          <a:p>
            <a:pPr marL="0" indent="0">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PostgreSQL</a:t>
            </a:r>
            <a:endParaRPr lang="en-US" sz="1800" dirty="0"/>
          </a:p>
        </p:txBody>
      </p:sp>
      <p:sp>
        <p:nvSpPr>
          <p:cNvPr id="5" name="Text 3"/>
          <p:cNvSpPr/>
          <p:nvPr/>
        </p:nvSpPr>
        <p:spPr>
          <a:xfrm>
            <a:off x="822960" y="2834640"/>
            <a:ext cx="2240280" cy="2103120"/>
          </a:xfrm>
          <a:prstGeom prst="rect">
            <a:avLst/>
          </a:prstGeom>
          <a:noFill/>
        </p:spPr>
        <p:txBody>
          <a:bodyPr wrap="square" rtlCol="0" anchor="ctr"/>
          <a:lstStyle/>
          <a:p>
            <a:pPr marL="0" indent="0">
              <a:buNone/>
            </a:pPr>
            <a:r>
              <a:rPr lang="en-US" sz="1250" dirty="0">
                <a:solidFill>
                  <a:srgbClr val="FFFFFF"/>
                </a:solidFill>
                <a:latin typeface="Calibri" panose="020F0502020204030204" pitchFamily="34" charset="0"/>
                <a:ea typeface="Calibri" panose="020F0502020204030204" pitchFamily="34" charset="-122"/>
                <a:cs typeface="Calibri" panose="020F0502020204030204" pitchFamily="34" charset="-120"/>
              </a:rPr>
              <a:t>Permanent structured storage, relationships, querying</a:t>
            </a:r>
            <a:endParaRPr lang="en-US" sz="1250" dirty="0"/>
          </a:p>
        </p:txBody>
      </p:sp>
      <p:sp>
        <p:nvSpPr>
          <p:cNvPr id="6" name="Shape 4"/>
          <p:cNvSpPr/>
          <p:nvPr/>
        </p:nvSpPr>
        <p:spPr>
          <a:xfrm>
            <a:off x="3383280" y="1920240"/>
            <a:ext cx="2606040" cy="3291840"/>
          </a:xfrm>
          <a:prstGeom prst="roundRect">
            <a:avLst>
              <a:gd name="adj" fmla="val 3509"/>
            </a:avLst>
          </a:prstGeom>
          <a:solidFill>
            <a:srgbClr val="065A82"/>
          </a:solidFill>
          <a:effectLst>
            <a:outerShdw blurRad="76200" dist="25400" dir="2700000" algn="bl" rotWithShape="0">
              <a:srgbClr val="000000">
                <a:alpha val="12000"/>
              </a:srgbClr>
            </a:outerShdw>
          </a:effectLst>
        </p:spPr>
      </p:sp>
      <p:sp>
        <p:nvSpPr>
          <p:cNvPr id="7" name="Text 5"/>
          <p:cNvSpPr/>
          <p:nvPr/>
        </p:nvSpPr>
        <p:spPr>
          <a:xfrm>
            <a:off x="3566160" y="2194560"/>
            <a:ext cx="2240280" cy="548640"/>
          </a:xfrm>
          <a:prstGeom prst="rect">
            <a:avLst/>
          </a:prstGeom>
          <a:noFill/>
        </p:spPr>
        <p:txBody>
          <a:bodyPr wrap="square" rtlCol="0" anchor="ctr"/>
          <a:lstStyle/>
          <a:p>
            <a:pPr marL="0" indent="0">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OpenSearch</a:t>
            </a:r>
            <a:endParaRPr lang="en-US" sz="1800" dirty="0"/>
          </a:p>
        </p:txBody>
      </p:sp>
      <p:sp>
        <p:nvSpPr>
          <p:cNvPr id="8" name="Text 6"/>
          <p:cNvSpPr/>
          <p:nvPr/>
        </p:nvSpPr>
        <p:spPr>
          <a:xfrm>
            <a:off x="3566160" y="2834640"/>
            <a:ext cx="2240280" cy="2103120"/>
          </a:xfrm>
          <a:prstGeom prst="rect">
            <a:avLst/>
          </a:prstGeom>
          <a:noFill/>
        </p:spPr>
        <p:txBody>
          <a:bodyPr wrap="square" rtlCol="0" anchor="ctr"/>
          <a:lstStyle/>
          <a:p>
            <a:pPr marL="0" indent="0">
              <a:buNone/>
            </a:pPr>
            <a:r>
              <a:rPr lang="en-US" sz="1250" dirty="0">
                <a:solidFill>
                  <a:srgbClr val="FFFFFF"/>
                </a:solidFill>
                <a:latin typeface="Calibri" panose="020F0502020204030204" pitchFamily="34" charset="0"/>
                <a:ea typeface="Calibri" panose="020F0502020204030204" pitchFamily="34" charset="-122"/>
                <a:cs typeface="Calibri" panose="020F0502020204030204" pitchFamily="34" charset="-120"/>
              </a:rPr>
              <a:t>Full-text search across all event content</a:t>
            </a:r>
            <a:endParaRPr lang="en-US" sz="1250" dirty="0"/>
          </a:p>
        </p:txBody>
      </p:sp>
      <p:sp>
        <p:nvSpPr>
          <p:cNvPr id="9" name="Shape 7"/>
          <p:cNvSpPr/>
          <p:nvPr/>
        </p:nvSpPr>
        <p:spPr>
          <a:xfrm>
            <a:off x="6126480" y="1920240"/>
            <a:ext cx="2606040" cy="3291840"/>
          </a:xfrm>
          <a:prstGeom prst="roundRect">
            <a:avLst>
              <a:gd name="adj" fmla="val 3509"/>
            </a:avLst>
          </a:prstGeom>
          <a:solidFill>
            <a:srgbClr val="B85042"/>
          </a:solidFill>
          <a:effectLst>
            <a:outerShdw blurRad="76200" dist="25400" dir="2700000" algn="bl" rotWithShape="0">
              <a:srgbClr val="000000">
                <a:alpha val="12000"/>
              </a:srgbClr>
            </a:outerShdw>
          </a:effectLst>
        </p:spPr>
      </p:sp>
      <p:sp>
        <p:nvSpPr>
          <p:cNvPr id="10" name="Text 8"/>
          <p:cNvSpPr/>
          <p:nvPr/>
        </p:nvSpPr>
        <p:spPr>
          <a:xfrm>
            <a:off x="6309360" y="2194560"/>
            <a:ext cx="2240280" cy="548640"/>
          </a:xfrm>
          <a:prstGeom prst="rect">
            <a:avLst/>
          </a:prstGeom>
          <a:noFill/>
        </p:spPr>
        <p:txBody>
          <a:bodyPr wrap="square" rtlCol="0" anchor="ctr"/>
          <a:lstStyle/>
          <a:p>
            <a:pPr marL="0" indent="0">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Redis</a:t>
            </a:r>
            <a:endParaRPr lang="en-US" sz="1800" dirty="0"/>
          </a:p>
        </p:txBody>
      </p:sp>
      <p:sp>
        <p:nvSpPr>
          <p:cNvPr id="11" name="Text 9"/>
          <p:cNvSpPr/>
          <p:nvPr/>
        </p:nvSpPr>
        <p:spPr>
          <a:xfrm>
            <a:off x="6309360" y="2834640"/>
            <a:ext cx="2240280" cy="2103120"/>
          </a:xfrm>
          <a:prstGeom prst="rect">
            <a:avLst/>
          </a:prstGeom>
          <a:noFill/>
        </p:spPr>
        <p:txBody>
          <a:bodyPr wrap="square" rtlCol="0" anchor="ctr"/>
          <a:lstStyle/>
          <a:p>
            <a:pPr marL="0" indent="0">
              <a:buNone/>
            </a:pPr>
            <a:r>
              <a:rPr lang="en-US" sz="1250" dirty="0">
                <a:solidFill>
                  <a:srgbClr val="FFFFFF"/>
                </a:solidFill>
                <a:latin typeface="Calibri" panose="020F0502020204030204" pitchFamily="34" charset="0"/>
                <a:ea typeface="Calibri" panose="020F0502020204030204" pitchFamily="34" charset="-122"/>
                <a:cs typeface="Calibri" panose="020F0502020204030204" pitchFamily="34" charset="-120"/>
              </a:rPr>
              <a:t>Real-time pub/sub for live dashboard updates</a:t>
            </a:r>
            <a:endParaRPr lang="en-US" sz="1250" dirty="0"/>
          </a:p>
        </p:txBody>
      </p:sp>
      <p:sp>
        <p:nvSpPr>
          <p:cNvPr id="12" name="Shape 10"/>
          <p:cNvSpPr/>
          <p:nvPr/>
        </p:nvSpPr>
        <p:spPr>
          <a:xfrm>
            <a:off x="8869680" y="1920240"/>
            <a:ext cx="2606040" cy="3291840"/>
          </a:xfrm>
          <a:prstGeom prst="roundRect">
            <a:avLst>
              <a:gd name="adj" fmla="val 3509"/>
            </a:avLst>
          </a:prstGeom>
          <a:solidFill>
            <a:srgbClr val="854F0B"/>
          </a:solidFill>
          <a:effectLst>
            <a:outerShdw blurRad="76200" dist="25400" dir="2700000" algn="bl" rotWithShape="0">
              <a:srgbClr val="000000">
                <a:alpha val="12000"/>
              </a:srgbClr>
            </a:outerShdw>
          </a:effectLst>
        </p:spPr>
      </p:sp>
      <p:sp>
        <p:nvSpPr>
          <p:cNvPr id="13" name="Text 11"/>
          <p:cNvSpPr/>
          <p:nvPr/>
        </p:nvSpPr>
        <p:spPr>
          <a:xfrm>
            <a:off x="9052560" y="2194560"/>
            <a:ext cx="2240280" cy="548640"/>
          </a:xfrm>
          <a:prstGeom prst="rect">
            <a:avLst/>
          </a:prstGeom>
          <a:noFill/>
        </p:spPr>
        <p:txBody>
          <a:bodyPr wrap="square" rtlCol="0" anchor="ctr"/>
          <a:lstStyle/>
          <a:p>
            <a:pPr marL="0" indent="0">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ClickHouse</a:t>
            </a:r>
            <a:endParaRPr lang="en-US" sz="1800" dirty="0"/>
          </a:p>
        </p:txBody>
      </p:sp>
      <p:sp>
        <p:nvSpPr>
          <p:cNvPr id="14" name="Text 12"/>
          <p:cNvSpPr/>
          <p:nvPr/>
        </p:nvSpPr>
        <p:spPr>
          <a:xfrm>
            <a:off x="9052560" y="2834640"/>
            <a:ext cx="2240280" cy="2103120"/>
          </a:xfrm>
          <a:prstGeom prst="rect">
            <a:avLst/>
          </a:prstGeom>
          <a:noFill/>
        </p:spPr>
        <p:txBody>
          <a:bodyPr wrap="square" rtlCol="0" anchor="ctr"/>
          <a:lstStyle/>
          <a:p>
            <a:pPr marL="0" indent="0">
              <a:buNone/>
            </a:pPr>
            <a:r>
              <a:rPr lang="en-US" sz="1250" dirty="0">
                <a:solidFill>
                  <a:srgbClr val="FFFFFF"/>
                </a:solidFill>
                <a:latin typeface="Calibri" panose="020F0502020204030204" pitchFamily="34" charset="0"/>
                <a:ea typeface="Calibri" panose="020F0502020204030204" pitchFamily="34" charset="-122"/>
                <a:cs typeface="Calibri" panose="020F0502020204030204" pitchFamily="34" charset="-120"/>
              </a:rPr>
              <a:t>Provisioned for future high-speed analytics</a:t>
            </a:r>
            <a:endParaRPr lang="en-US" sz="1250" dirty="0"/>
          </a:p>
        </p:txBody>
      </p:sp>
      <p:sp>
        <p:nvSpPr>
          <p:cNvPr id="15" name="Text 13"/>
          <p:cNvSpPr/>
          <p:nvPr/>
        </p:nvSpPr>
        <p:spPr>
          <a:xfrm>
            <a:off x="640080" y="5486400"/>
            <a:ext cx="10881360" cy="457200"/>
          </a:xfrm>
          <a:prstGeom prst="rect">
            <a:avLst/>
          </a:prstGeom>
          <a:noFill/>
        </p:spPr>
        <p:txBody>
          <a:bodyPr wrap="square" rtlCol="0" anchor="ctr"/>
          <a:lstStyle/>
          <a:p>
            <a:pPr marL="0" indent="0" algn="ctr">
              <a:buNone/>
            </a:pPr>
            <a:r>
              <a:rPr lang="en-US" sz="1300" i="1" dirty="0">
                <a:solidFill>
                  <a:srgbClr val="5B6472"/>
                </a:solidFill>
                <a:latin typeface="Calibri" panose="020F0502020204030204" pitchFamily="34" charset="0"/>
                <a:ea typeface="Calibri" panose="020F0502020204030204" pitchFamily="34" charset="-122"/>
                <a:cs typeface="Calibri" panose="020F0502020204030204" pitchFamily="34" charset="-120"/>
              </a:rPr>
              <a:t>Each store is doing the one thing it's architecturally best at — not one database forced to do everything</a:t>
            </a:r>
            <a:endParaRPr lang="en-US" sz="1300" dirty="0"/>
          </a:p>
        </p:txBody>
      </p:sp>
      <p:sp>
        <p:nvSpPr>
          <p:cNvPr id="16" name="Text 14"/>
          <p:cNvSpPr/>
          <p:nvPr/>
        </p:nvSpPr>
        <p:spPr>
          <a:xfrm>
            <a:off x="548640" y="6537960"/>
            <a:ext cx="7315200" cy="274320"/>
          </a:xfrm>
          <a:prstGeom prst="rect">
            <a:avLst/>
          </a:prstGeom>
          <a:noFill/>
        </p:spPr>
        <p:txBody>
          <a:bodyPr wrap="square" rtlCol="0" anchor="ctr"/>
          <a:lstStyle/>
          <a:p>
            <a:pPr marL="0" indent="0">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Dhruv Rathore · 23052240 · ISTRAC Lucknow</a:t>
            </a:r>
            <a:endParaRPr lang="en-US" sz="900" dirty="0"/>
          </a:p>
        </p:txBody>
      </p:sp>
      <p:sp>
        <p:nvSpPr>
          <p:cNvPr id="17" name="Text 15"/>
          <p:cNvSpPr/>
          <p:nvPr/>
        </p:nvSpPr>
        <p:spPr>
          <a:xfrm>
            <a:off x="11247120" y="6537960"/>
            <a:ext cx="548640" cy="274320"/>
          </a:xfrm>
          <a:prstGeom prst="rect">
            <a:avLst/>
          </a:prstGeom>
          <a:noFill/>
        </p:spPr>
        <p:txBody>
          <a:bodyPr wrap="square" rtlCol="0" anchor="ctr"/>
          <a:lstStyle/>
          <a:p>
            <a:pPr marL="0" indent="0" algn="r">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11 / 28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p:spPr>
        <p:txBody>
          <a:bodyPr wrap="square" rtlCol="0" anchor="ctr"/>
          <a:lstStyle/>
          <a:p>
            <a:pPr marL="0" indent="0">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Real-Time Delivery</a:t>
            </a:r>
            <a:endParaRPr lang="en-US" sz="3000" dirty="0"/>
          </a:p>
        </p:txBody>
      </p:sp>
      <p:pic>
        <p:nvPicPr>
          <p:cNvPr id="3" name="Image 0" descr="/home/claude/ppt_build/diagrams/lifecycle.png"/>
          <p:cNvPicPr>
            <a:picLocks noChangeAspect="1"/>
          </p:cNvPicPr>
          <p:nvPr/>
        </p:nvPicPr>
        <p:blipFill>
          <a:blip r:embed="rId1"/>
          <a:srcRect/>
          <a:stretch>
            <a:fillRect/>
          </a:stretch>
        </p:blipFill>
        <p:spPr>
          <a:xfrm>
            <a:off x="548640" y="1371600"/>
            <a:ext cx="11064240" cy="3099816"/>
          </a:xfrm>
          <a:prstGeom prst="rect">
            <a:avLst/>
          </a:prstGeom>
        </p:spPr>
      </p:pic>
      <p:sp>
        <p:nvSpPr>
          <p:cNvPr id="4" name="Shape 1"/>
          <p:cNvSpPr/>
          <p:nvPr/>
        </p:nvSpPr>
        <p:spPr>
          <a:xfrm>
            <a:off x="2651760" y="4709160"/>
            <a:ext cx="6858000" cy="868680"/>
          </a:xfrm>
          <a:prstGeom prst="roundRect">
            <a:avLst>
              <a:gd name="adj" fmla="val 10526"/>
            </a:avLst>
          </a:prstGeom>
          <a:solidFill>
            <a:srgbClr val="FBEAF0"/>
          </a:solidFill>
        </p:spPr>
      </p:sp>
      <p:sp>
        <p:nvSpPr>
          <p:cNvPr id="5" name="Text 2"/>
          <p:cNvSpPr/>
          <p:nvPr/>
        </p:nvSpPr>
        <p:spPr>
          <a:xfrm>
            <a:off x="2834640" y="4892040"/>
            <a:ext cx="6492240" cy="502920"/>
          </a:xfrm>
          <a:prstGeom prst="rect">
            <a:avLst/>
          </a:prstGeom>
          <a:noFill/>
        </p:spPr>
        <p:txBody>
          <a:bodyPr wrap="square" rtlCol="0" anchor="ctr"/>
          <a:lstStyle/>
          <a:p>
            <a:pPr marL="0" indent="0" algn="ctr">
              <a:buNone/>
            </a:pPr>
            <a:r>
              <a:rPr lang="en-US" sz="1600" b="1" dirty="0">
                <a:solidFill>
                  <a:srgbClr val="72243E"/>
                </a:solidFill>
                <a:latin typeface="Calibri" panose="020F0502020204030204" pitchFamily="34" charset="0"/>
                <a:ea typeface="Calibri" panose="020F0502020204030204" pitchFamily="34" charset="-122"/>
                <a:cs typeface="Calibri" panose="020F0502020204030204" pitchFamily="34" charset="-120"/>
              </a:rPr>
              <a:t>Observed: events appear on dashboard in under 1 second from ingestion</a:t>
            </a:r>
            <a:endParaRPr lang="en-US" sz="1600" dirty="0"/>
          </a:p>
        </p:txBody>
      </p:sp>
      <p:sp>
        <p:nvSpPr>
          <p:cNvPr id="6" name="Text 3"/>
          <p:cNvSpPr/>
          <p:nvPr/>
        </p:nvSpPr>
        <p:spPr>
          <a:xfrm>
            <a:off x="548640" y="6537960"/>
            <a:ext cx="7315200" cy="274320"/>
          </a:xfrm>
          <a:prstGeom prst="rect">
            <a:avLst/>
          </a:prstGeom>
          <a:noFill/>
        </p:spPr>
        <p:txBody>
          <a:bodyPr wrap="square" rtlCol="0" anchor="ctr"/>
          <a:lstStyle/>
          <a:p>
            <a:pPr marL="0" indent="0">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Dhruv Rathore · 23052240 · ISTRAC Lucknow</a:t>
            </a:r>
            <a:endParaRPr lang="en-US" sz="900" dirty="0"/>
          </a:p>
        </p:txBody>
      </p:sp>
      <p:sp>
        <p:nvSpPr>
          <p:cNvPr id="7" name="Text 4"/>
          <p:cNvSpPr/>
          <p:nvPr/>
        </p:nvSpPr>
        <p:spPr>
          <a:xfrm>
            <a:off x="11247120" y="6537960"/>
            <a:ext cx="548640" cy="274320"/>
          </a:xfrm>
          <a:prstGeom prst="rect">
            <a:avLst/>
          </a:prstGeom>
          <a:noFill/>
        </p:spPr>
        <p:txBody>
          <a:bodyPr wrap="square" rtlCol="0" anchor="ctr"/>
          <a:lstStyle/>
          <a:p>
            <a:pPr marL="0" indent="0" algn="r">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12 / 28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p:spPr>
        <p:txBody>
          <a:bodyPr wrap="square" rtlCol="0" anchor="ctr"/>
          <a:lstStyle/>
          <a:p>
            <a:pPr marL="0" indent="0">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Authentication and Security</a:t>
            </a:r>
            <a:endParaRPr lang="en-US" sz="3000" dirty="0"/>
          </a:p>
        </p:txBody>
      </p:sp>
      <p:sp>
        <p:nvSpPr>
          <p:cNvPr id="3" name="Shape 1"/>
          <p:cNvSpPr/>
          <p:nvPr/>
        </p:nvSpPr>
        <p:spPr>
          <a:xfrm>
            <a:off x="640080" y="1691640"/>
            <a:ext cx="109728" cy="777240"/>
          </a:xfrm>
          <a:prstGeom prst="rect">
            <a:avLst/>
          </a:prstGeom>
          <a:solidFill>
            <a:srgbClr val="1E2761"/>
          </a:solidFill>
        </p:spPr>
      </p:sp>
      <p:sp>
        <p:nvSpPr>
          <p:cNvPr id="4" name="Text 2"/>
          <p:cNvSpPr/>
          <p:nvPr/>
        </p:nvSpPr>
        <p:spPr>
          <a:xfrm>
            <a:off x="960120" y="1645920"/>
            <a:ext cx="4846320" cy="457200"/>
          </a:xfrm>
          <a:prstGeom prst="rect">
            <a:avLst/>
          </a:prstGeom>
          <a:noFill/>
        </p:spPr>
        <p:txBody>
          <a:bodyPr wrap="square" rtlCol="0" anchor="ctr"/>
          <a:lstStyle/>
          <a:p>
            <a:pPr marL="0" indent="0">
              <a:buNone/>
            </a:pPr>
            <a:r>
              <a:rPr lang="en-US" sz="1550" b="1" dirty="0">
                <a:solidFill>
                  <a:srgbClr val="1A1A1A"/>
                </a:solidFill>
                <a:latin typeface="Calibri" panose="020F0502020204030204" pitchFamily="34" charset="0"/>
                <a:ea typeface="Calibri" panose="020F0502020204030204" pitchFamily="34" charset="-122"/>
                <a:cs typeface="Calibri" panose="020F0502020204030204" pitchFamily="34" charset="-120"/>
              </a:rPr>
              <a:t>JWT with httpOnly Cookies</a:t>
            </a:r>
            <a:endParaRPr lang="en-US" sz="1550" dirty="0"/>
          </a:p>
        </p:txBody>
      </p:sp>
      <p:sp>
        <p:nvSpPr>
          <p:cNvPr id="5" name="Text 3"/>
          <p:cNvSpPr/>
          <p:nvPr/>
        </p:nvSpPr>
        <p:spPr>
          <a:xfrm>
            <a:off x="960120" y="2075688"/>
            <a:ext cx="10058400" cy="411480"/>
          </a:xfrm>
          <a:prstGeom prst="rect">
            <a:avLst/>
          </a:prstGeom>
          <a:noFill/>
        </p:spPr>
        <p:txBody>
          <a:bodyPr wrap="square" rtlCol="0" anchor="ctr"/>
          <a:lstStyle/>
          <a:p>
            <a:pPr marL="0" indent="0">
              <a:buNone/>
            </a:pPr>
            <a:r>
              <a:rPr lang="en-US" sz="1250" dirty="0">
                <a:solidFill>
                  <a:srgbClr val="5B6472"/>
                </a:solidFill>
                <a:latin typeface="Calibri" panose="020F0502020204030204" pitchFamily="34" charset="0"/>
                <a:ea typeface="Calibri" panose="020F0502020204030204" pitchFamily="34" charset="-122"/>
                <a:cs typeface="Calibri" panose="020F0502020204030204" pitchFamily="34" charset="-120"/>
              </a:rPr>
              <a:t>Tokens inaccessible to client-side scripts — mitigates XSS risk</a:t>
            </a:r>
            <a:endParaRPr lang="en-US" sz="1250" dirty="0"/>
          </a:p>
        </p:txBody>
      </p:sp>
      <p:sp>
        <p:nvSpPr>
          <p:cNvPr id="6" name="Shape 4"/>
          <p:cNvSpPr/>
          <p:nvPr/>
        </p:nvSpPr>
        <p:spPr>
          <a:xfrm>
            <a:off x="640080" y="2606040"/>
            <a:ext cx="109728" cy="777240"/>
          </a:xfrm>
          <a:prstGeom prst="rect">
            <a:avLst/>
          </a:prstGeom>
          <a:solidFill>
            <a:srgbClr val="065A82"/>
          </a:solidFill>
        </p:spPr>
      </p:sp>
      <p:sp>
        <p:nvSpPr>
          <p:cNvPr id="7" name="Text 5"/>
          <p:cNvSpPr/>
          <p:nvPr/>
        </p:nvSpPr>
        <p:spPr>
          <a:xfrm>
            <a:off x="960120" y="2560320"/>
            <a:ext cx="4846320" cy="457200"/>
          </a:xfrm>
          <a:prstGeom prst="rect">
            <a:avLst/>
          </a:prstGeom>
          <a:noFill/>
        </p:spPr>
        <p:txBody>
          <a:bodyPr wrap="square" rtlCol="0" anchor="ctr"/>
          <a:lstStyle/>
          <a:p>
            <a:pPr marL="0" indent="0">
              <a:buNone/>
            </a:pPr>
            <a:r>
              <a:rPr lang="en-US" sz="1550" b="1" dirty="0">
                <a:solidFill>
                  <a:srgbClr val="1A1A1A"/>
                </a:solidFill>
                <a:latin typeface="Calibri" panose="020F0502020204030204" pitchFamily="34" charset="0"/>
                <a:ea typeface="Calibri" panose="020F0502020204030204" pitchFamily="34" charset="-122"/>
                <a:cs typeface="Calibri" panose="020F0502020204030204" pitchFamily="34" charset="-120"/>
              </a:rPr>
              <a:t>Refresh Token Rotation</a:t>
            </a:r>
            <a:endParaRPr lang="en-US" sz="1550" dirty="0"/>
          </a:p>
        </p:txBody>
      </p:sp>
      <p:sp>
        <p:nvSpPr>
          <p:cNvPr id="8" name="Text 6"/>
          <p:cNvSpPr/>
          <p:nvPr/>
        </p:nvSpPr>
        <p:spPr>
          <a:xfrm>
            <a:off x="960120" y="2990088"/>
            <a:ext cx="10058400" cy="411480"/>
          </a:xfrm>
          <a:prstGeom prst="rect">
            <a:avLst/>
          </a:prstGeom>
          <a:noFill/>
        </p:spPr>
        <p:txBody>
          <a:bodyPr wrap="square" rtlCol="0" anchor="ctr"/>
          <a:lstStyle/>
          <a:p>
            <a:pPr marL="0" indent="0">
              <a:buNone/>
            </a:pPr>
            <a:r>
              <a:rPr lang="en-US" sz="1250" dirty="0">
                <a:solidFill>
                  <a:srgbClr val="5B6472"/>
                </a:solidFill>
                <a:latin typeface="Calibri" panose="020F0502020204030204" pitchFamily="34" charset="0"/>
                <a:ea typeface="Calibri" panose="020F0502020204030204" pitchFamily="34" charset="-122"/>
                <a:cs typeface="Calibri" panose="020F0502020204030204" pitchFamily="34" charset="-120"/>
              </a:rPr>
              <a:t>Server-tracked sessions allow individual token revocation</a:t>
            </a:r>
            <a:endParaRPr lang="en-US" sz="1250" dirty="0"/>
          </a:p>
        </p:txBody>
      </p:sp>
      <p:sp>
        <p:nvSpPr>
          <p:cNvPr id="9" name="Shape 7"/>
          <p:cNvSpPr/>
          <p:nvPr/>
        </p:nvSpPr>
        <p:spPr>
          <a:xfrm>
            <a:off x="640080" y="3520440"/>
            <a:ext cx="109728" cy="777240"/>
          </a:xfrm>
          <a:prstGeom prst="rect">
            <a:avLst/>
          </a:prstGeom>
          <a:solidFill>
            <a:srgbClr val="854F0B"/>
          </a:solidFill>
        </p:spPr>
      </p:sp>
      <p:sp>
        <p:nvSpPr>
          <p:cNvPr id="10" name="Text 8"/>
          <p:cNvSpPr/>
          <p:nvPr/>
        </p:nvSpPr>
        <p:spPr>
          <a:xfrm>
            <a:off x="960120" y="3474720"/>
            <a:ext cx="4846320" cy="457200"/>
          </a:xfrm>
          <a:prstGeom prst="rect">
            <a:avLst/>
          </a:prstGeom>
          <a:noFill/>
        </p:spPr>
        <p:txBody>
          <a:bodyPr wrap="square" rtlCol="0" anchor="ctr"/>
          <a:lstStyle/>
          <a:p>
            <a:pPr marL="0" indent="0">
              <a:buNone/>
            </a:pPr>
            <a:r>
              <a:rPr lang="en-US" sz="1550" b="1" dirty="0">
                <a:solidFill>
                  <a:srgbClr val="1A1A1A"/>
                </a:solidFill>
                <a:latin typeface="Calibri" panose="020F0502020204030204" pitchFamily="34" charset="0"/>
                <a:ea typeface="Calibri" panose="020F0502020204030204" pitchFamily="34" charset="-122"/>
                <a:cs typeface="Calibri" panose="020F0502020204030204" pitchFamily="34" charset="-120"/>
              </a:rPr>
              <a:t>API Key Authentication</a:t>
            </a:r>
            <a:endParaRPr lang="en-US" sz="1550" dirty="0"/>
          </a:p>
        </p:txBody>
      </p:sp>
      <p:sp>
        <p:nvSpPr>
          <p:cNvPr id="11" name="Text 9"/>
          <p:cNvSpPr/>
          <p:nvPr/>
        </p:nvSpPr>
        <p:spPr>
          <a:xfrm>
            <a:off x="960120" y="3904488"/>
            <a:ext cx="10058400" cy="411480"/>
          </a:xfrm>
          <a:prstGeom prst="rect">
            <a:avLst/>
          </a:prstGeom>
          <a:noFill/>
        </p:spPr>
        <p:txBody>
          <a:bodyPr wrap="square" rtlCol="0" anchor="ctr"/>
          <a:lstStyle/>
          <a:p>
            <a:pPr marL="0" indent="0">
              <a:buNone/>
            </a:pPr>
            <a:r>
              <a:rPr lang="en-US" sz="1250" dirty="0">
                <a:solidFill>
                  <a:srgbClr val="5B6472"/>
                </a:solidFill>
                <a:latin typeface="Calibri" panose="020F0502020204030204" pitchFamily="34" charset="0"/>
                <a:ea typeface="Calibri" panose="020F0502020204030204" pitchFamily="34" charset="-122"/>
                <a:cs typeface="Calibri" panose="020F0502020204030204" pitchFamily="34" charset="-120"/>
              </a:rPr>
              <a:t>Scoped, SHA-256 hashed keys for programmatic access</a:t>
            </a:r>
            <a:endParaRPr lang="en-US" sz="1250" dirty="0"/>
          </a:p>
        </p:txBody>
      </p:sp>
      <p:sp>
        <p:nvSpPr>
          <p:cNvPr id="12" name="Shape 10"/>
          <p:cNvSpPr/>
          <p:nvPr/>
        </p:nvSpPr>
        <p:spPr>
          <a:xfrm>
            <a:off x="640080" y="4434840"/>
            <a:ext cx="109728" cy="777240"/>
          </a:xfrm>
          <a:prstGeom prst="rect">
            <a:avLst/>
          </a:prstGeom>
          <a:solidFill>
            <a:srgbClr val="2C5F2D"/>
          </a:solidFill>
        </p:spPr>
      </p:sp>
      <p:sp>
        <p:nvSpPr>
          <p:cNvPr id="13" name="Text 11"/>
          <p:cNvSpPr/>
          <p:nvPr/>
        </p:nvSpPr>
        <p:spPr>
          <a:xfrm>
            <a:off x="960120" y="4389120"/>
            <a:ext cx="4846320" cy="457200"/>
          </a:xfrm>
          <a:prstGeom prst="rect">
            <a:avLst/>
          </a:prstGeom>
          <a:noFill/>
        </p:spPr>
        <p:txBody>
          <a:bodyPr wrap="square" rtlCol="0" anchor="ctr"/>
          <a:lstStyle/>
          <a:p>
            <a:pPr marL="0" indent="0">
              <a:buNone/>
            </a:pPr>
            <a:r>
              <a:rPr lang="en-US" sz="1550" b="1" dirty="0">
                <a:solidFill>
                  <a:srgbClr val="1A1A1A"/>
                </a:solidFill>
                <a:latin typeface="Calibri" panose="020F0502020204030204" pitchFamily="34" charset="0"/>
                <a:ea typeface="Calibri" panose="020F0502020204030204" pitchFamily="34" charset="-122"/>
                <a:cs typeface="Calibri" panose="020F0502020204030204" pitchFamily="34" charset="-120"/>
              </a:rPr>
              <a:t>Bcrypt Password Hashing</a:t>
            </a:r>
            <a:endParaRPr lang="en-US" sz="1550" dirty="0"/>
          </a:p>
        </p:txBody>
      </p:sp>
      <p:sp>
        <p:nvSpPr>
          <p:cNvPr id="14" name="Text 12"/>
          <p:cNvSpPr/>
          <p:nvPr/>
        </p:nvSpPr>
        <p:spPr>
          <a:xfrm>
            <a:off x="960120" y="4818888"/>
            <a:ext cx="10058400" cy="411480"/>
          </a:xfrm>
          <a:prstGeom prst="rect">
            <a:avLst/>
          </a:prstGeom>
          <a:noFill/>
        </p:spPr>
        <p:txBody>
          <a:bodyPr wrap="square" rtlCol="0" anchor="ctr"/>
          <a:lstStyle/>
          <a:p>
            <a:pPr marL="0" indent="0">
              <a:buNone/>
            </a:pPr>
            <a:r>
              <a:rPr lang="en-US" sz="1250" dirty="0">
                <a:solidFill>
                  <a:srgbClr val="5B6472"/>
                </a:solidFill>
                <a:latin typeface="Calibri" panose="020F0502020204030204" pitchFamily="34" charset="0"/>
                <a:ea typeface="Calibri" panose="020F0502020204030204" pitchFamily="34" charset="-122"/>
                <a:cs typeface="Calibri" panose="020F0502020204030204" pitchFamily="34" charset="-120"/>
              </a:rPr>
              <a:t>Passwords never stored in plaintext, industry-standard hashing</a:t>
            </a:r>
            <a:endParaRPr lang="en-US" sz="1250" dirty="0"/>
          </a:p>
        </p:txBody>
      </p:sp>
      <p:sp>
        <p:nvSpPr>
          <p:cNvPr id="15" name="Text 13"/>
          <p:cNvSpPr/>
          <p:nvPr/>
        </p:nvSpPr>
        <p:spPr>
          <a:xfrm>
            <a:off x="548640" y="6537960"/>
            <a:ext cx="7315200" cy="274320"/>
          </a:xfrm>
          <a:prstGeom prst="rect">
            <a:avLst/>
          </a:prstGeom>
          <a:noFill/>
        </p:spPr>
        <p:txBody>
          <a:bodyPr wrap="square" rtlCol="0" anchor="ctr"/>
          <a:lstStyle/>
          <a:p>
            <a:pPr marL="0" indent="0">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Dhruv Rathore · 23052240 · ISTRAC Lucknow</a:t>
            </a:r>
            <a:endParaRPr lang="en-US" sz="900" dirty="0"/>
          </a:p>
        </p:txBody>
      </p:sp>
      <p:sp>
        <p:nvSpPr>
          <p:cNvPr id="16" name="Text 14"/>
          <p:cNvSpPr/>
          <p:nvPr/>
        </p:nvSpPr>
        <p:spPr>
          <a:xfrm>
            <a:off x="11247120" y="6537960"/>
            <a:ext cx="548640" cy="274320"/>
          </a:xfrm>
          <a:prstGeom prst="rect">
            <a:avLst/>
          </a:prstGeom>
          <a:noFill/>
        </p:spPr>
        <p:txBody>
          <a:bodyPr wrap="square" rtlCol="0" anchor="ctr"/>
          <a:lstStyle/>
          <a:p>
            <a:pPr marL="0" indent="0" algn="r">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13 / 28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p:spPr>
        <p:txBody>
          <a:bodyPr wrap="square" rtlCol="0" anchor="ctr"/>
          <a:lstStyle/>
          <a:p>
            <a:pPr marL="0" indent="0">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Database Design</a:t>
            </a:r>
            <a:endParaRPr lang="en-US" sz="3000" dirty="0"/>
          </a:p>
        </p:txBody>
      </p:sp>
      <p:pic>
        <p:nvPicPr>
          <p:cNvPr id="3" name="Image 0" descr="/home/claude/ppt_build/diagrams/er_diagram.png"/>
          <p:cNvPicPr>
            <a:picLocks noChangeAspect="1"/>
          </p:cNvPicPr>
          <p:nvPr/>
        </p:nvPicPr>
        <p:blipFill>
          <a:blip r:embed="rId1"/>
          <a:srcRect/>
          <a:stretch>
            <a:fillRect/>
          </a:stretch>
        </p:blipFill>
        <p:spPr>
          <a:xfrm>
            <a:off x="1188720" y="1371600"/>
            <a:ext cx="9784080" cy="4434840"/>
          </a:xfrm>
          <a:prstGeom prst="rect">
            <a:avLst/>
          </a:prstGeom>
        </p:spPr>
      </p:pic>
      <p:sp>
        <p:nvSpPr>
          <p:cNvPr id="4" name="Text 1"/>
          <p:cNvSpPr/>
          <p:nvPr/>
        </p:nvSpPr>
        <p:spPr>
          <a:xfrm>
            <a:off x="548640" y="6537960"/>
            <a:ext cx="7315200" cy="274320"/>
          </a:xfrm>
          <a:prstGeom prst="rect">
            <a:avLst/>
          </a:prstGeom>
          <a:noFill/>
        </p:spPr>
        <p:txBody>
          <a:bodyPr wrap="square" rtlCol="0" anchor="ctr"/>
          <a:lstStyle/>
          <a:p>
            <a:pPr marL="0" indent="0">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Dhruv Rathore · 23052240 · ISTRAC Lucknow</a:t>
            </a:r>
            <a:endParaRPr lang="en-US" sz="900" dirty="0"/>
          </a:p>
        </p:txBody>
      </p:sp>
      <p:sp>
        <p:nvSpPr>
          <p:cNvPr id="5" name="Text 2"/>
          <p:cNvSpPr/>
          <p:nvPr/>
        </p:nvSpPr>
        <p:spPr>
          <a:xfrm>
            <a:off x="11247120" y="6537960"/>
            <a:ext cx="548640" cy="274320"/>
          </a:xfrm>
          <a:prstGeom prst="rect">
            <a:avLst/>
          </a:prstGeom>
          <a:noFill/>
        </p:spPr>
        <p:txBody>
          <a:bodyPr wrap="square" rtlCol="0" anchor="ctr"/>
          <a:lstStyle/>
          <a:p>
            <a:pPr marL="0" indent="0" algn="r">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14 / 28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p:spPr>
        <p:txBody>
          <a:bodyPr wrap="square" rtlCol="0" anchor="ctr"/>
          <a:lstStyle/>
          <a:p>
            <a:pPr marL="0" indent="0">
              <a:buNone/>
            </a:pPr>
            <a:r>
              <a:rPr lang="en-US" sz="3000" b="1" dirty="0">
                <a:solidFill>
                  <a:srgbClr val="FFFFFF"/>
                </a:solidFill>
                <a:latin typeface="Calibri" panose="020F0502020204030204" pitchFamily="34" charset="0"/>
                <a:ea typeface="Calibri" panose="020F0502020204030204" pitchFamily="34" charset="-122"/>
                <a:cs typeface="Calibri" panose="020F0502020204030204" pitchFamily="34" charset="-120"/>
              </a:rPr>
              <a:t>Live Dashboard Walkthrough</a:t>
            </a:r>
            <a:endParaRPr lang="en-US" sz="3000" dirty="0"/>
          </a:p>
        </p:txBody>
      </p:sp>
      <p:sp>
        <p:nvSpPr>
          <p:cNvPr id="3" name="Shape 1"/>
          <p:cNvSpPr/>
          <p:nvPr/>
        </p:nvSpPr>
        <p:spPr>
          <a:xfrm>
            <a:off x="731520" y="1810512"/>
            <a:ext cx="109728" cy="109728"/>
          </a:xfrm>
          <a:prstGeom prst="ellipse">
            <a:avLst/>
          </a:prstGeom>
          <a:solidFill>
            <a:srgbClr val="CADCFC"/>
          </a:solidFill>
        </p:spPr>
      </p:sp>
      <p:sp>
        <p:nvSpPr>
          <p:cNvPr id="4" name="Text 2"/>
          <p:cNvSpPr/>
          <p:nvPr/>
        </p:nvSpPr>
        <p:spPr>
          <a:xfrm>
            <a:off x="1051560" y="1737360"/>
            <a:ext cx="10058400" cy="457200"/>
          </a:xfrm>
          <a:prstGeom prst="rect">
            <a:avLst/>
          </a:prstGeom>
          <a:noFill/>
        </p:spPr>
        <p:txBody>
          <a:bodyPr wrap="square" rtlCol="0" anchor="ctr"/>
          <a:lstStyle/>
          <a:p>
            <a:pPr marL="0" indent="0">
              <a:buNone/>
            </a:pPr>
            <a:r>
              <a:rPr lang="en-US" sz="1600" dirty="0">
                <a:solidFill>
                  <a:srgbClr val="FFFFFF"/>
                </a:solidFill>
                <a:latin typeface="Calibri" panose="020F0502020204030204" pitchFamily="34" charset="0"/>
                <a:ea typeface="Calibri" panose="020F0502020204030204" pitchFamily="34" charset="-122"/>
                <a:cs typeface="Calibri" panose="020F0502020204030204" pitchFamily="34" charset="-120"/>
              </a:rPr>
              <a:t>Real-time event stream with dynamic field rendering</a:t>
            </a:r>
            <a:endParaRPr lang="en-US" sz="1600" dirty="0"/>
          </a:p>
        </p:txBody>
      </p:sp>
      <p:sp>
        <p:nvSpPr>
          <p:cNvPr id="5" name="Shape 3"/>
          <p:cNvSpPr/>
          <p:nvPr/>
        </p:nvSpPr>
        <p:spPr>
          <a:xfrm>
            <a:off x="731520" y="2587752"/>
            <a:ext cx="109728" cy="109728"/>
          </a:xfrm>
          <a:prstGeom prst="ellipse">
            <a:avLst/>
          </a:prstGeom>
          <a:solidFill>
            <a:srgbClr val="CADCFC"/>
          </a:solidFill>
        </p:spPr>
      </p:sp>
      <p:sp>
        <p:nvSpPr>
          <p:cNvPr id="6" name="Text 4"/>
          <p:cNvSpPr/>
          <p:nvPr/>
        </p:nvSpPr>
        <p:spPr>
          <a:xfrm>
            <a:off x="1051560" y="2514600"/>
            <a:ext cx="10058400" cy="457200"/>
          </a:xfrm>
          <a:prstGeom prst="rect">
            <a:avLst/>
          </a:prstGeom>
          <a:noFill/>
        </p:spPr>
        <p:txBody>
          <a:bodyPr wrap="square" rtlCol="0" anchor="ctr"/>
          <a:lstStyle/>
          <a:p>
            <a:pPr marL="0" indent="0">
              <a:buNone/>
            </a:pPr>
            <a:r>
              <a:rPr lang="en-US" sz="1600" dirty="0">
                <a:solidFill>
                  <a:srgbClr val="FFFFFF"/>
                </a:solidFill>
                <a:latin typeface="Calibri" panose="020F0502020204030204" pitchFamily="34" charset="0"/>
                <a:ea typeface="Calibri" panose="020F0502020204030204" pitchFamily="34" charset="-122"/>
                <a:cs typeface="Calibri" panose="020F0502020204030204" pitchFamily="34" charset="-120"/>
              </a:rPr>
              <a:t>Severity-based color coding — Critical, Error, Warn, Info, Debug</a:t>
            </a:r>
            <a:endParaRPr lang="en-US" sz="1600" dirty="0"/>
          </a:p>
        </p:txBody>
      </p:sp>
      <p:sp>
        <p:nvSpPr>
          <p:cNvPr id="7" name="Shape 5"/>
          <p:cNvSpPr/>
          <p:nvPr/>
        </p:nvSpPr>
        <p:spPr>
          <a:xfrm>
            <a:off x="731520" y="3364992"/>
            <a:ext cx="109728" cy="109728"/>
          </a:xfrm>
          <a:prstGeom prst="ellipse">
            <a:avLst/>
          </a:prstGeom>
          <a:solidFill>
            <a:srgbClr val="CADCFC"/>
          </a:solidFill>
        </p:spPr>
      </p:sp>
      <p:sp>
        <p:nvSpPr>
          <p:cNvPr id="8" name="Text 6"/>
          <p:cNvSpPr/>
          <p:nvPr/>
        </p:nvSpPr>
        <p:spPr>
          <a:xfrm>
            <a:off x="1051560" y="3291840"/>
            <a:ext cx="10058400" cy="457200"/>
          </a:xfrm>
          <a:prstGeom prst="rect">
            <a:avLst/>
          </a:prstGeom>
          <a:noFill/>
        </p:spPr>
        <p:txBody>
          <a:bodyPr wrap="square" rtlCol="0" anchor="ctr"/>
          <a:lstStyle/>
          <a:p>
            <a:pPr marL="0" indent="0">
              <a:buNone/>
            </a:pPr>
            <a:r>
              <a:rPr lang="en-US" sz="1600" dirty="0">
                <a:solidFill>
                  <a:srgbClr val="FFFFFF"/>
                </a:solidFill>
                <a:latin typeface="Calibri" panose="020F0502020204030204" pitchFamily="34" charset="0"/>
                <a:ea typeface="Calibri" panose="020F0502020204030204" pitchFamily="34" charset="-122"/>
                <a:cs typeface="Calibri" panose="020F0502020204030204" pitchFamily="34" charset="-120"/>
              </a:rPr>
              <a:t>Search and filter across historical events</a:t>
            </a:r>
            <a:endParaRPr lang="en-US" sz="1600" dirty="0"/>
          </a:p>
        </p:txBody>
      </p:sp>
      <p:sp>
        <p:nvSpPr>
          <p:cNvPr id="9" name="Shape 7"/>
          <p:cNvSpPr/>
          <p:nvPr/>
        </p:nvSpPr>
        <p:spPr>
          <a:xfrm>
            <a:off x="731520" y="4142232"/>
            <a:ext cx="109728" cy="109728"/>
          </a:xfrm>
          <a:prstGeom prst="ellipse">
            <a:avLst/>
          </a:prstGeom>
          <a:solidFill>
            <a:srgbClr val="CADCFC"/>
          </a:solidFill>
        </p:spPr>
      </p:sp>
      <p:sp>
        <p:nvSpPr>
          <p:cNvPr id="10" name="Text 8"/>
          <p:cNvSpPr/>
          <p:nvPr/>
        </p:nvSpPr>
        <p:spPr>
          <a:xfrm>
            <a:off x="1051560" y="4069080"/>
            <a:ext cx="10058400" cy="457200"/>
          </a:xfrm>
          <a:prstGeom prst="rect">
            <a:avLst/>
          </a:prstGeom>
          <a:noFill/>
        </p:spPr>
        <p:txBody>
          <a:bodyPr wrap="square" rtlCol="0" anchor="ctr"/>
          <a:lstStyle/>
          <a:p>
            <a:pPr marL="0" indent="0">
              <a:buNone/>
            </a:pPr>
            <a:r>
              <a:rPr lang="en-US" sz="1600" dirty="0">
                <a:solidFill>
                  <a:srgbClr val="FFFFFF"/>
                </a:solidFill>
                <a:latin typeface="Calibri" panose="020F0502020204030204" pitchFamily="34" charset="0"/>
                <a:ea typeface="Calibri" panose="020F0502020204030204" pitchFamily="34" charset="-122"/>
                <a:cs typeface="Calibri" panose="020F0502020204030204" pitchFamily="34" charset="-120"/>
              </a:rPr>
              <a:t>Stat cards and charts — events per hour, severity breakdown</a:t>
            </a:r>
            <a:endParaRPr lang="en-US" sz="1600" dirty="0"/>
          </a:p>
        </p:txBody>
      </p:sp>
      <p:sp>
        <p:nvSpPr>
          <p:cNvPr id="11" name="Text 9"/>
          <p:cNvSpPr/>
          <p:nvPr/>
        </p:nvSpPr>
        <p:spPr>
          <a:xfrm>
            <a:off x="548640" y="5760720"/>
            <a:ext cx="10058400" cy="457200"/>
          </a:xfrm>
          <a:prstGeom prst="rect">
            <a:avLst/>
          </a:prstGeom>
          <a:noFill/>
        </p:spPr>
        <p:txBody>
          <a:bodyPr wrap="square" rtlCol="0" anchor="ctr"/>
          <a:lstStyle/>
          <a:p>
            <a:pPr marL="0" indent="0">
              <a:buNone/>
            </a:pPr>
            <a:r>
              <a:rPr lang="en-US" sz="1400" i="1" dirty="0">
                <a:solidFill>
                  <a:srgbClr val="CADCFC"/>
                </a:solidFill>
                <a:latin typeface="Calibri" panose="020F0502020204030204" pitchFamily="34" charset="0"/>
                <a:ea typeface="Calibri" panose="020F0502020204030204" pitchFamily="34" charset="-122"/>
                <a:cs typeface="Calibri" panose="020F0502020204030204" pitchFamily="34" charset="-120"/>
              </a:rPr>
              <a:t>Transitioning to Live Demonstration →</a:t>
            </a:r>
            <a:endParaRPr lang="en-US" sz="1400" dirty="0"/>
          </a:p>
        </p:txBody>
      </p:sp>
      <p:sp>
        <p:nvSpPr>
          <p:cNvPr id="12" name="Text 10"/>
          <p:cNvSpPr/>
          <p:nvPr/>
        </p:nvSpPr>
        <p:spPr>
          <a:xfrm>
            <a:off x="548640" y="6537960"/>
            <a:ext cx="7315200" cy="274320"/>
          </a:xfrm>
          <a:prstGeom prst="rect">
            <a:avLst/>
          </a:prstGeom>
          <a:noFill/>
        </p:spPr>
        <p:txBody>
          <a:bodyPr wrap="square" rtlCol="0" anchor="ctr"/>
          <a:lstStyle/>
          <a:p>
            <a:pPr marL="0" indent="0">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Dhruv Rathore · 23052240 · ISTRAC Lucknow</a:t>
            </a:r>
            <a:endParaRPr lang="en-US" sz="900" dirty="0"/>
          </a:p>
        </p:txBody>
      </p:sp>
      <p:sp>
        <p:nvSpPr>
          <p:cNvPr id="13" name="Text 11"/>
          <p:cNvSpPr/>
          <p:nvPr/>
        </p:nvSpPr>
        <p:spPr>
          <a:xfrm>
            <a:off x="11247120" y="6537960"/>
            <a:ext cx="548640" cy="274320"/>
          </a:xfrm>
          <a:prstGeom prst="rect">
            <a:avLst/>
          </a:prstGeom>
          <a:noFill/>
        </p:spPr>
        <p:txBody>
          <a:bodyPr wrap="square" rtlCol="0" anchor="ctr"/>
          <a:lstStyle/>
          <a:p>
            <a:pPr marL="0" indent="0" algn="r">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15 / 28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2C5F2D"/>
          </a:solidFill>
        </p:spPr>
      </p:sp>
      <p:sp>
        <p:nvSpPr>
          <p:cNvPr id="3" name="Text 1"/>
          <p:cNvSpPr/>
          <p:nvPr/>
        </p:nvSpPr>
        <p:spPr>
          <a:xfrm>
            <a:off x="548640" y="137160"/>
            <a:ext cx="10972800" cy="365760"/>
          </a:xfrm>
          <a:prstGeom prst="rect">
            <a:avLst/>
          </a:prstGeom>
          <a:noFill/>
        </p:spPr>
        <p:txBody>
          <a:bodyPr wrap="square" rtlCol="0" anchor="ctr"/>
          <a:lstStyle/>
          <a:p>
            <a:pPr marL="0" indent="0">
              <a:buNone/>
            </a:pPr>
            <a:r>
              <a:rPr lang="en-US" sz="1300" kern="0" spc="200" dirty="0">
                <a:solidFill>
                  <a:srgbClr val="D2E8C8"/>
                </a:solidFill>
                <a:latin typeface="Calibri" panose="020F0502020204030204" pitchFamily="34" charset="0"/>
                <a:ea typeface="Calibri" panose="020F0502020204030204" pitchFamily="34" charset="-122"/>
                <a:cs typeface="Calibri" panose="020F0502020204030204" pitchFamily="34" charset="-120"/>
              </a:rPr>
              <a:t>KEY TECHNICAL ACHIEVEMENT — 1 of 2</a:t>
            </a:r>
            <a:endParaRPr lang="en-US" sz="1300" dirty="0"/>
          </a:p>
        </p:txBody>
      </p:sp>
      <p:sp>
        <p:nvSpPr>
          <p:cNvPr id="4" name="Text 2"/>
          <p:cNvSpPr/>
          <p:nvPr/>
        </p:nvSpPr>
        <p:spPr>
          <a:xfrm>
            <a:off x="548640" y="457200"/>
            <a:ext cx="10972800" cy="594360"/>
          </a:xfrm>
          <a:prstGeom prst="rect">
            <a:avLst/>
          </a:prstGeom>
          <a:noFill/>
        </p:spPr>
        <p:txBody>
          <a:bodyPr wrap="square" rtlCol="0" anchor="ctr"/>
          <a:lstStyle/>
          <a:p>
            <a:pPr marL="0" indent="0">
              <a:buNone/>
            </a:pPr>
            <a:r>
              <a:rPr lang="en-US" sz="2600" b="1" dirty="0">
                <a:solidFill>
                  <a:srgbClr val="FFFFFF"/>
                </a:solidFill>
                <a:latin typeface="Calibri" panose="020F0502020204030204" pitchFamily="34" charset="0"/>
                <a:ea typeface="Calibri" panose="020F0502020204030204" pitchFamily="34" charset="-122"/>
                <a:cs typeface="Calibri" panose="020F0502020204030204" pitchFamily="34" charset="-120"/>
              </a:rPr>
              <a:t>Simultaneous Multi-Source Convergence</a:t>
            </a:r>
            <a:endParaRPr lang="en-US" sz="2600" dirty="0"/>
          </a:p>
        </p:txBody>
      </p:sp>
      <p:sp>
        <p:nvSpPr>
          <p:cNvPr id="5" name="Text 3"/>
          <p:cNvSpPr/>
          <p:nvPr/>
        </p:nvSpPr>
        <p:spPr>
          <a:xfrm>
            <a:off x="640080" y="1554480"/>
            <a:ext cx="10881360" cy="2926080"/>
          </a:xfrm>
          <a:prstGeom prst="rect">
            <a:avLst/>
          </a:prstGeom>
          <a:noFill/>
        </p:spPr>
        <p:txBody>
          <a:bodyPr wrap="square" rtlCol="0" anchor="ctr"/>
          <a:lstStyle/>
          <a:p>
            <a:pPr marL="342900" indent="-342900">
              <a:spcAft>
                <a:spcPts val="1400"/>
              </a:spcAft>
              <a:buSzPct val="100000"/>
              <a:buChar char="•"/>
            </a:pPr>
            <a:r>
              <a:rPr lang="en-US" sz="1550" dirty="0">
                <a:solidFill>
                  <a:srgbClr val="1A1A1A"/>
                </a:solidFill>
                <a:latin typeface="Calibri" panose="020F0502020204030204" pitchFamily="34" charset="0"/>
                <a:ea typeface="Calibri" panose="020F0502020204030204" pitchFamily="34" charset="-122"/>
                <a:cs typeface="Calibri" panose="020F0502020204030204" pitchFamily="34" charset="-120"/>
              </a:rPr>
              <a:t>Successfully ingested live data from two independent machines simultaneously</a:t>
            </a:r>
            <a:endParaRPr lang="en-US" sz="1550" dirty="0"/>
          </a:p>
          <a:p>
            <a:pPr marL="342900" indent="-342900">
              <a:spcAft>
                <a:spcPts val="1400"/>
              </a:spcAft>
              <a:buSzPct val="100000"/>
              <a:buChar char="•"/>
            </a:pPr>
            <a:r>
              <a:rPr lang="en-US" sz="1550" dirty="0">
                <a:solidFill>
                  <a:srgbClr val="1A1A1A"/>
                </a:solidFill>
                <a:latin typeface="Calibri" panose="020F0502020204030204" pitchFamily="34" charset="0"/>
                <a:ea typeface="Calibri" panose="020F0502020204030204" pitchFamily="34" charset="-122"/>
                <a:cs typeface="Calibri" panose="020F0502020204030204" pitchFamily="34" charset="-120"/>
              </a:rPr>
              <a:t>One via direct HTTP POST, another via an external Kafka topic</a:t>
            </a:r>
            <a:endParaRPr lang="en-US" sz="1550" dirty="0"/>
          </a:p>
          <a:p>
            <a:pPr marL="342900" indent="-342900">
              <a:spcAft>
                <a:spcPts val="1400"/>
              </a:spcAft>
              <a:buSzPct val="100000"/>
              <a:buChar char="•"/>
            </a:pPr>
            <a:r>
              <a:rPr lang="en-US" sz="1550" dirty="0">
                <a:solidFill>
                  <a:srgbClr val="1A1A1A"/>
                </a:solidFill>
                <a:latin typeface="Calibri" panose="020F0502020204030204" pitchFamily="34" charset="0"/>
                <a:ea typeface="Calibri" panose="020F0502020204030204" pitchFamily="34" charset="-122"/>
                <a:cs typeface="Calibri" panose="020F0502020204030204" pitchFamily="34" charset="-120"/>
              </a:rPr>
              <a:t>Both streams converged into the same normalized pipeline and same dashboard</a:t>
            </a:r>
            <a:endParaRPr lang="en-US" sz="1550" dirty="0"/>
          </a:p>
          <a:p>
            <a:pPr marL="342900" indent="-342900">
              <a:spcAft>
                <a:spcPts val="1400"/>
              </a:spcAft>
              <a:buSzPct val="100000"/>
              <a:buChar char="•"/>
            </a:pPr>
            <a:r>
              <a:rPr lang="en-US" sz="1550" dirty="0">
                <a:solidFill>
                  <a:srgbClr val="1A1A1A"/>
                </a:solidFill>
                <a:latin typeface="Calibri" panose="020F0502020204030204" pitchFamily="34" charset="0"/>
                <a:ea typeface="Calibri" panose="020F0502020204030204" pitchFamily="34" charset="-122"/>
                <a:cs typeface="Calibri" panose="020F0502020204030204" pitchFamily="34" charset="-120"/>
              </a:rPr>
              <a:t>Proves the architecture's source-agnostic design works in practice, not just in theory</a:t>
            </a:r>
            <a:endParaRPr lang="en-US" sz="1550" dirty="0"/>
          </a:p>
        </p:txBody>
      </p:sp>
      <p:sp>
        <p:nvSpPr>
          <p:cNvPr id="6" name="Shape 4"/>
          <p:cNvSpPr/>
          <p:nvPr/>
        </p:nvSpPr>
        <p:spPr>
          <a:xfrm>
            <a:off x="640080" y="4663440"/>
            <a:ext cx="10881360" cy="1371600"/>
          </a:xfrm>
          <a:prstGeom prst="roundRect">
            <a:avLst>
              <a:gd name="adj" fmla="val 6667"/>
            </a:avLst>
          </a:prstGeom>
          <a:solidFill>
            <a:srgbClr val="EAF3DE"/>
          </a:solidFill>
        </p:spPr>
      </p:sp>
      <p:sp>
        <p:nvSpPr>
          <p:cNvPr id="7" name="Text 5"/>
          <p:cNvSpPr/>
          <p:nvPr/>
        </p:nvSpPr>
        <p:spPr>
          <a:xfrm>
            <a:off x="914400" y="4846320"/>
            <a:ext cx="4846320" cy="1005840"/>
          </a:xfrm>
          <a:prstGeom prst="rect">
            <a:avLst/>
          </a:prstGeom>
          <a:noFill/>
        </p:spPr>
        <p:txBody>
          <a:bodyPr wrap="square" rtlCol="0" anchor="ctr"/>
          <a:lstStyle/>
          <a:p>
            <a:pPr marL="0" indent="0">
              <a:buNone/>
            </a:pPr>
            <a:r>
              <a:rPr lang="en-US" sz="1400" b="1" dirty="0">
                <a:solidFill>
                  <a:srgbClr val="27500A"/>
                </a:solidFill>
                <a:latin typeface="Courier New" panose="02070309020205020404" pitchFamily="34" charset="0"/>
                <a:ea typeface="Courier New" panose="02070309020205020404" pitchFamily="34" charset="-122"/>
                <a:cs typeface="Courier New" panose="02070309020205020404" pitchFamily="34" charset="-120"/>
              </a:rPr>
              <a:t>kafka</a:t>
            </a:r>
            <a:endParaRPr lang="en-US" sz="1400" dirty="0"/>
          </a:p>
          <a:p>
            <a:pPr marL="0" indent="0">
              <a:buNone/>
            </a:pPr>
            <a:r>
              <a:rPr lang="en-US" sz="1200" dirty="0">
                <a:solidFill>
                  <a:srgbClr val="5B6472"/>
                </a:solidFill>
                <a:latin typeface="Courier New" panose="02070309020205020404" pitchFamily="34" charset="0"/>
                <a:ea typeface="Courier New" panose="02070309020205020404" pitchFamily="34" charset="-122"/>
                <a:cs typeface="Courier New" panose="02070309020205020404" pitchFamily="34" charset="-120"/>
              </a:rPr>
              <a:t>source-tagged event   </a:t>
            </a:r>
            <a:endParaRPr lang="en-US" sz="1400" dirty="0"/>
          </a:p>
        </p:txBody>
      </p:sp>
      <p:sp>
        <p:nvSpPr>
          <p:cNvPr id="8" name="Text 6"/>
          <p:cNvSpPr/>
          <p:nvPr/>
        </p:nvSpPr>
        <p:spPr>
          <a:xfrm>
            <a:off x="5943600" y="4846320"/>
            <a:ext cx="5303520" cy="1005840"/>
          </a:xfrm>
          <a:prstGeom prst="rect">
            <a:avLst/>
          </a:prstGeom>
          <a:noFill/>
        </p:spPr>
        <p:txBody>
          <a:bodyPr wrap="square" rtlCol="0" anchor="ctr"/>
          <a:lstStyle/>
          <a:p>
            <a:pPr marL="0" indent="0">
              <a:buNone/>
            </a:pPr>
            <a:r>
              <a:rPr lang="en-US" sz="1400" b="1" dirty="0">
                <a:solidFill>
                  <a:srgbClr val="27500A"/>
                </a:solidFill>
                <a:latin typeface="Courier New" panose="02070309020205020404" pitchFamily="34" charset="0"/>
                <a:ea typeface="Courier New" panose="02070309020205020404" pitchFamily="34" charset="-122"/>
                <a:cs typeface="Courier New" panose="02070309020205020404" pitchFamily="34" charset="-120"/>
              </a:rPr>
              <a:t>http_webhook</a:t>
            </a:r>
            <a:endParaRPr lang="en-US" sz="1400" dirty="0"/>
          </a:p>
          <a:p>
            <a:pPr marL="0" indent="0">
              <a:buNone/>
            </a:pPr>
            <a:r>
              <a:rPr lang="en-US" sz="1200" dirty="0">
                <a:solidFill>
                  <a:srgbClr val="5B6472"/>
                </a:solidFill>
                <a:latin typeface="Courier New" panose="02070309020205020404" pitchFamily="34" charset="0"/>
                <a:ea typeface="Courier New" panose="02070309020205020404" pitchFamily="34" charset="-122"/>
                <a:cs typeface="Courier New" panose="02070309020205020404" pitchFamily="34" charset="-120"/>
              </a:rPr>
              <a:t>source-tagged event   </a:t>
            </a:r>
            <a:endParaRPr lang="en-US" sz="1400" dirty="0"/>
          </a:p>
        </p:txBody>
      </p:sp>
      <p:sp>
        <p:nvSpPr>
          <p:cNvPr id="9" name="Text 7"/>
          <p:cNvSpPr/>
          <p:nvPr/>
        </p:nvSpPr>
        <p:spPr>
          <a:xfrm>
            <a:off x="914400" y="5440680"/>
            <a:ext cx="10058400" cy="365760"/>
          </a:xfrm>
          <a:prstGeom prst="rect">
            <a:avLst/>
          </a:prstGeom>
          <a:noFill/>
        </p:spPr>
        <p:txBody>
          <a:bodyPr wrap="square" rtlCol="0" anchor="ctr"/>
          <a:lstStyle/>
          <a:p>
            <a:pPr marL="0" indent="0">
              <a:buNone/>
            </a:pPr>
            <a:r>
              <a:rPr lang="en-US" sz="1150" i="1" dirty="0">
                <a:solidFill>
                  <a:srgbClr val="27500A"/>
                </a:solidFill>
                <a:latin typeface="Calibri" panose="020F0502020204030204" pitchFamily="34" charset="0"/>
                <a:ea typeface="Calibri" panose="020F0502020204030204" pitchFamily="34" charset="-122"/>
                <a:cs typeface="Calibri" panose="020F0502020204030204" pitchFamily="34" charset="-120"/>
              </a:rPr>
              <a:t>Both appearing on the same live dashboard, concurrently</a:t>
            </a:r>
            <a:endParaRPr lang="en-US" sz="1150" dirty="0"/>
          </a:p>
        </p:txBody>
      </p:sp>
      <p:sp>
        <p:nvSpPr>
          <p:cNvPr id="10" name="Text 8"/>
          <p:cNvSpPr/>
          <p:nvPr/>
        </p:nvSpPr>
        <p:spPr>
          <a:xfrm>
            <a:off x="548640" y="6537960"/>
            <a:ext cx="7315200" cy="274320"/>
          </a:xfrm>
          <a:prstGeom prst="rect">
            <a:avLst/>
          </a:prstGeom>
          <a:noFill/>
        </p:spPr>
        <p:txBody>
          <a:bodyPr wrap="square" rtlCol="0" anchor="ctr"/>
          <a:lstStyle/>
          <a:p>
            <a:pPr marL="0" indent="0">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Dhruv Rathore · 23052240 · ISTRAC Lucknow</a:t>
            </a:r>
            <a:endParaRPr lang="en-US" sz="900" dirty="0"/>
          </a:p>
        </p:txBody>
      </p:sp>
      <p:sp>
        <p:nvSpPr>
          <p:cNvPr id="11" name="Text 9"/>
          <p:cNvSpPr/>
          <p:nvPr/>
        </p:nvSpPr>
        <p:spPr>
          <a:xfrm>
            <a:off x="11247120" y="6537960"/>
            <a:ext cx="548640" cy="274320"/>
          </a:xfrm>
          <a:prstGeom prst="rect">
            <a:avLst/>
          </a:prstGeom>
          <a:noFill/>
        </p:spPr>
        <p:txBody>
          <a:bodyPr wrap="square" rtlCol="0" anchor="ctr"/>
          <a:lstStyle/>
          <a:p>
            <a:pPr marL="0" indent="0" algn="r">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17 / 28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065A82"/>
          </a:solidFill>
        </p:spPr>
      </p:sp>
      <p:sp>
        <p:nvSpPr>
          <p:cNvPr id="3" name="Text 1"/>
          <p:cNvSpPr/>
          <p:nvPr/>
        </p:nvSpPr>
        <p:spPr>
          <a:xfrm>
            <a:off x="548640" y="137160"/>
            <a:ext cx="10972800" cy="365760"/>
          </a:xfrm>
          <a:prstGeom prst="rect">
            <a:avLst/>
          </a:prstGeom>
          <a:noFill/>
        </p:spPr>
        <p:txBody>
          <a:bodyPr wrap="square" rtlCol="0" anchor="ctr"/>
          <a:lstStyle/>
          <a:p>
            <a:pPr marL="0" indent="0">
              <a:buNone/>
            </a:pPr>
            <a:r>
              <a:rPr lang="en-US" sz="1300" kern="0" spc="200" dirty="0">
                <a:solidFill>
                  <a:srgbClr val="BFE3F2"/>
                </a:solidFill>
                <a:latin typeface="Calibri" panose="020F0502020204030204" pitchFamily="34" charset="0"/>
                <a:ea typeface="Calibri" panose="020F0502020204030204" pitchFamily="34" charset="-122"/>
                <a:cs typeface="Calibri" panose="020F0502020204030204" pitchFamily="34" charset="-120"/>
              </a:rPr>
              <a:t>KEY TECHNICAL ACHIEVEMENT — 2 of 2</a:t>
            </a:r>
            <a:endParaRPr lang="en-US" sz="1300" dirty="0"/>
          </a:p>
        </p:txBody>
      </p:sp>
      <p:sp>
        <p:nvSpPr>
          <p:cNvPr id="4" name="Text 2"/>
          <p:cNvSpPr/>
          <p:nvPr/>
        </p:nvSpPr>
        <p:spPr>
          <a:xfrm>
            <a:off x="548640" y="457200"/>
            <a:ext cx="10972800" cy="594360"/>
          </a:xfrm>
          <a:prstGeom prst="rect">
            <a:avLst/>
          </a:prstGeom>
          <a:noFill/>
        </p:spPr>
        <p:txBody>
          <a:bodyPr wrap="square" rtlCol="0" anchor="ctr"/>
          <a:lstStyle/>
          <a:p>
            <a:pPr marL="0" indent="0">
              <a:buNone/>
            </a:pPr>
            <a:r>
              <a:rPr lang="en-US" sz="2600" b="1" dirty="0">
                <a:solidFill>
                  <a:srgbClr val="FFFFFF"/>
                </a:solidFill>
                <a:latin typeface="Calibri" panose="020F0502020204030204" pitchFamily="34" charset="0"/>
                <a:ea typeface="Calibri" panose="020F0502020204030204" pitchFamily="34" charset="-122"/>
                <a:cs typeface="Calibri" panose="020F0502020204030204" pitchFamily="34" charset="-120"/>
              </a:rPr>
              <a:t>Sub-Second End-to-End Latency</a:t>
            </a:r>
            <a:endParaRPr lang="en-US" sz="2600" dirty="0"/>
          </a:p>
        </p:txBody>
      </p:sp>
      <p:sp>
        <p:nvSpPr>
          <p:cNvPr id="5" name="Text 3"/>
          <p:cNvSpPr/>
          <p:nvPr/>
        </p:nvSpPr>
        <p:spPr>
          <a:xfrm>
            <a:off x="640080" y="1554480"/>
            <a:ext cx="10881360" cy="2377440"/>
          </a:xfrm>
          <a:prstGeom prst="rect">
            <a:avLst/>
          </a:prstGeom>
          <a:noFill/>
        </p:spPr>
        <p:txBody>
          <a:bodyPr wrap="square" rtlCol="0" anchor="ctr"/>
          <a:lstStyle/>
          <a:p>
            <a:pPr marL="342900" indent="-342900">
              <a:spcAft>
                <a:spcPts val="1400"/>
              </a:spcAft>
              <a:buSzPct val="100000"/>
              <a:buChar char="•"/>
            </a:pPr>
            <a:r>
              <a:rPr lang="en-US" sz="1550" dirty="0">
                <a:solidFill>
                  <a:srgbClr val="1A1A1A"/>
                </a:solidFill>
                <a:latin typeface="Calibri" panose="020F0502020204030204" pitchFamily="34" charset="0"/>
                <a:ea typeface="Calibri" panose="020F0502020204030204" pitchFamily="34" charset="-122"/>
                <a:cs typeface="Calibri" panose="020F0502020204030204" pitchFamily="34" charset="-120"/>
              </a:rPr>
              <a:t>End-to-end latency from ingestion to live dashboard render: under 1 second</a:t>
            </a:r>
            <a:endParaRPr lang="en-US" sz="1550" dirty="0"/>
          </a:p>
          <a:p>
            <a:pPr marL="342900" indent="-342900">
              <a:spcAft>
                <a:spcPts val="1400"/>
              </a:spcAft>
              <a:buSzPct val="100000"/>
              <a:buChar char="•"/>
            </a:pPr>
            <a:r>
              <a:rPr lang="en-US" sz="1550" dirty="0">
                <a:solidFill>
                  <a:srgbClr val="1A1A1A"/>
                </a:solidFill>
                <a:latin typeface="Calibri" panose="020F0502020204030204" pitchFamily="34" charset="0"/>
                <a:ea typeface="Calibri" panose="020F0502020204030204" pitchFamily="34" charset="-122"/>
                <a:cs typeface="Calibri" panose="020F0502020204030204" pitchFamily="34" charset="-120"/>
              </a:rPr>
              <a:t>Pipeline crosses 8 architectural layers in that time — Kafka, parser, normalizer, 3 storage writes, Redis, WebSocket</a:t>
            </a:r>
            <a:endParaRPr lang="en-US" sz="1550" dirty="0"/>
          </a:p>
          <a:p>
            <a:pPr marL="342900" indent="-342900">
              <a:spcAft>
                <a:spcPts val="1400"/>
              </a:spcAft>
              <a:buSzPct val="100000"/>
              <a:buChar char="•"/>
            </a:pPr>
            <a:r>
              <a:rPr lang="en-US" sz="1550" dirty="0">
                <a:solidFill>
                  <a:srgbClr val="1A1A1A"/>
                </a:solidFill>
                <a:latin typeface="Calibri" panose="020F0502020204030204" pitchFamily="34" charset="0"/>
                <a:ea typeface="Calibri" panose="020F0502020204030204" pitchFamily="34" charset="-122"/>
                <a:cs typeface="Calibri" panose="020F0502020204030204" pitchFamily="34" charset="-120"/>
              </a:rPr>
              <a:t>Achieved without any caching shortcuts — every event is fully parsed, normalized, and persisted</a:t>
            </a:r>
            <a:endParaRPr lang="en-US" sz="1550" dirty="0"/>
          </a:p>
        </p:txBody>
      </p:sp>
      <p:sp>
        <p:nvSpPr>
          <p:cNvPr id="6" name="Shape 4"/>
          <p:cNvSpPr/>
          <p:nvPr/>
        </p:nvSpPr>
        <p:spPr>
          <a:xfrm>
            <a:off x="640080" y="4297680"/>
            <a:ext cx="1287018" cy="457200"/>
          </a:xfrm>
          <a:prstGeom prst="rect">
            <a:avLst/>
          </a:prstGeom>
          <a:solidFill>
            <a:srgbClr val="0F4C81"/>
          </a:solidFill>
        </p:spPr>
      </p:sp>
      <p:sp>
        <p:nvSpPr>
          <p:cNvPr id="7" name="Text 5"/>
          <p:cNvSpPr/>
          <p:nvPr/>
        </p:nvSpPr>
        <p:spPr>
          <a:xfrm>
            <a:off x="640080" y="4297680"/>
            <a:ext cx="1287018" cy="457200"/>
          </a:xfrm>
          <a:prstGeom prst="rect">
            <a:avLst/>
          </a:prstGeom>
          <a:noFill/>
        </p:spPr>
        <p:txBody>
          <a:bodyPr wrap="square" rtlCol="0" anchor="ctr"/>
          <a:lstStyle/>
          <a:p>
            <a:pPr marL="0" indent="0" algn="ctr">
              <a:buNone/>
            </a:pPr>
            <a:r>
              <a:rPr lang="en-US" sz="950" dirty="0">
                <a:solidFill>
                  <a:srgbClr val="FFFFFF"/>
                </a:solidFill>
                <a:latin typeface="Calibri" panose="020F0502020204030204" pitchFamily="34" charset="0"/>
                <a:ea typeface="Calibri" panose="020F0502020204030204" pitchFamily="34" charset="-122"/>
                <a:cs typeface="Calibri" panose="020F0502020204030204" pitchFamily="34" charset="-120"/>
              </a:rPr>
              <a:t>Receiver</a:t>
            </a:r>
            <a:endParaRPr lang="en-US" sz="950" dirty="0"/>
          </a:p>
        </p:txBody>
      </p:sp>
      <p:sp>
        <p:nvSpPr>
          <p:cNvPr id="8" name="Shape 6"/>
          <p:cNvSpPr/>
          <p:nvPr/>
        </p:nvSpPr>
        <p:spPr>
          <a:xfrm>
            <a:off x="2000250" y="4297680"/>
            <a:ext cx="1287018" cy="457200"/>
          </a:xfrm>
          <a:prstGeom prst="rect">
            <a:avLst/>
          </a:prstGeom>
          <a:solidFill>
            <a:srgbClr val="065A82"/>
          </a:solidFill>
        </p:spPr>
      </p:sp>
      <p:sp>
        <p:nvSpPr>
          <p:cNvPr id="9" name="Text 7"/>
          <p:cNvSpPr/>
          <p:nvPr/>
        </p:nvSpPr>
        <p:spPr>
          <a:xfrm>
            <a:off x="2000250" y="4297680"/>
            <a:ext cx="1287018" cy="457200"/>
          </a:xfrm>
          <a:prstGeom prst="rect">
            <a:avLst/>
          </a:prstGeom>
          <a:noFill/>
        </p:spPr>
        <p:txBody>
          <a:bodyPr wrap="square" rtlCol="0" anchor="ctr"/>
          <a:lstStyle/>
          <a:p>
            <a:pPr marL="0" indent="0" algn="ctr">
              <a:buNone/>
            </a:pPr>
            <a:r>
              <a:rPr lang="en-US" sz="950" dirty="0">
                <a:solidFill>
                  <a:srgbClr val="FFFFFF"/>
                </a:solidFill>
                <a:latin typeface="Calibri" panose="020F0502020204030204" pitchFamily="34" charset="0"/>
                <a:ea typeface="Calibri" panose="020F0502020204030204" pitchFamily="34" charset="-122"/>
                <a:cs typeface="Calibri" panose="020F0502020204030204" pitchFamily="34" charset="-120"/>
              </a:rPr>
              <a:t>Kafka</a:t>
            </a:r>
            <a:endParaRPr lang="en-US" sz="950" dirty="0"/>
          </a:p>
        </p:txBody>
      </p:sp>
      <p:sp>
        <p:nvSpPr>
          <p:cNvPr id="10" name="Shape 8"/>
          <p:cNvSpPr/>
          <p:nvPr/>
        </p:nvSpPr>
        <p:spPr>
          <a:xfrm>
            <a:off x="3360420" y="4297680"/>
            <a:ext cx="1287018" cy="457200"/>
          </a:xfrm>
          <a:prstGeom prst="rect">
            <a:avLst/>
          </a:prstGeom>
          <a:solidFill>
            <a:srgbClr val="0F4C81"/>
          </a:solidFill>
        </p:spPr>
      </p:sp>
      <p:sp>
        <p:nvSpPr>
          <p:cNvPr id="11" name="Text 9"/>
          <p:cNvSpPr/>
          <p:nvPr/>
        </p:nvSpPr>
        <p:spPr>
          <a:xfrm>
            <a:off x="3360420" y="4297680"/>
            <a:ext cx="1287018" cy="457200"/>
          </a:xfrm>
          <a:prstGeom prst="rect">
            <a:avLst/>
          </a:prstGeom>
          <a:noFill/>
        </p:spPr>
        <p:txBody>
          <a:bodyPr wrap="square" rtlCol="0" anchor="ctr"/>
          <a:lstStyle/>
          <a:p>
            <a:pPr marL="0" indent="0" algn="ctr">
              <a:buNone/>
            </a:pPr>
            <a:r>
              <a:rPr lang="en-US" sz="950" dirty="0">
                <a:solidFill>
                  <a:srgbClr val="FFFFFF"/>
                </a:solidFill>
                <a:latin typeface="Calibri" panose="020F0502020204030204" pitchFamily="34" charset="0"/>
                <a:ea typeface="Calibri" panose="020F0502020204030204" pitchFamily="34" charset="-122"/>
                <a:cs typeface="Calibri" panose="020F0502020204030204" pitchFamily="34" charset="-120"/>
              </a:rPr>
              <a:t>Parser</a:t>
            </a:r>
            <a:endParaRPr lang="en-US" sz="950" dirty="0"/>
          </a:p>
        </p:txBody>
      </p:sp>
      <p:sp>
        <p:nvSpPr>
          <p:cNvPr id="12" name="Shape 10"/>
          <p:cNvSpPr/>
          <p:nvPr/>
        </p:nvSpPr>
        <p:spPr>
          <a:xfrm>
            <a:off x="4720590" y="4297680"/>
            <a:ext cx="1287018" cy="457200"/>
          </a:xfrm>
          <a:prstGeom prst="rect">
            <a:avLst/>
          </a:prstGeom>
          <a:solidFill>
            <a:srgbClr val="065A82"/>
          </a:solidFill>
        </p:spPr>
      </p:sp>
      <p:sp>
        <p:nvSpPr>
          <p:cNvPr id="13" name="Text 11"/>
          <p:cNvSpPr/>
          <p:nvPr/>
        </p:nvSpPr>
        <p:spPr>
          <a:xfrm>
            <a:off x="4720590" y="4297680"/>
            <a:ext cx="1287018" cy="457200"/>
          </a:xfrm>
          <a:prstGeom prst="rect">
            <a:avLst/>
          </a:prstGeom>
          <a:noFill/>
        </p:spPr>
        <p:txBody>
          <a:bodyPr wrap="square" rtlCol="0" anchor="ctr"/>
          <a:lstStyle/>
          <a:p>
            <a:pPr marL="0" indent="0" algn="ctr">
              <a:buNone/>
            </a:pPr>
            <a:r>
              <a:rPr lang="en-US" sz="950" dirty="0">
                <a:solidFill>
                  <a:srgbClr val="FFFFFF"/>
                </a:solidFill>
                <a:latin typeface="Calibri" panose="020F0502020204030204" pitchFamily="34" charset="0"/>
                <a:ea typeface="Calibri" panose="020F0502020204030204" pitchFamily="34" charset="-122"/>
                <a:cs typeface="Calibri" panose="020F0502020204030204" pitchFamily="34" charset="-120"/>
              </a:rPr>
              <a:t>Normalizer</a:t>
            </a:r>
            <a:endParaRPr lang="en-US" sz="950" dirty="0"/>
          </a:p>
        </p:txBody>
      </p:sp>
      <p:sp>
        <p:nvSpPr>
          <p:cNvPr id="14" name="Shape 12"/>
          <p:cNvSpPr/>
          <p:nvPr/>
        </p:nvSpPr>
        <p:spPr>
          <a:xfrm>
            <a:off x="6080760" y="4297680"/>
            <a:ext cx="1287018" cy="457200"/>
          </a:xfrm>
          <a:prstGeom prst="rect">
            <a:avLst/>
          </a:prstGeom>
          <a:solidFill>
            <a:srgbClr val="0F4C81"/>
          </a:solidFill>
        </p:spPr>
      </p:sp>
      <p:sp>
        <p:nvSpPr>
          <p:cNvPr id="15" name="Text 13"/>
          <p:cNvSpPr/>
          <p:nvPr/>
        </p:nvSpPr>
        <p:spPr>
          <a:xfrm>
            <a:off x="6080760" y="4297680"/>
            <a:ext cx="1287018" cy="457200"/>
          </a:xfrm>
          <a:prstGeom prst="rect">
            <a:avLst/>
          </a:prstGeom>
          <a:noFill/>
        </p:spPr>
        <p:txBody>
          <a:bodyPr wrap="square" rtlCol="0" anchor="ctr"/>
          <a:lstStyle/>
          <a:p>
            <a:pPr marL="0" indent="0" algn="ctr">
              <a:buNone/>
            </a:pPr>
            <a:r>
              <a:rPr lang="en-US" sz="950" dirty="0">
                <a:solidFill>
                  <a:srgbClr val="FFFFFF"/>
                </a:solidFill>
                <a:latin typeface="Calibri" panose="020F0502020204030204" pitchFamily="34" charset="0"/>
                <a:ea typeface="Calibri" panose="020F0502020204030204" pitchFamily="34" charset="-122"/>
                <a:cs typeface="Calibri" panose="020F0502020204030204" pitchFamily="34" charset="-120"/>
              </a:rPr>
              <a:t>3x Storage</a:t>
            </a:r>
            <a:endParaRPr lang="en-US" sz="950" dirty="0"/>
          </a:p>
        </p:txBody>
      </p:sp>
      <p:sp>
        <p:nvSpPr>
          <p:cNvPr id="16" name="Shape 14"/>
          <p:cNvSpPr/>
          <p:nvPr/>
        </p:nvSpPr>
        <p:spPr>
          <a:xfrm>
            <a:off x="7440930" y="4297680"/>
            <a:ext cx="1287018" cy="457200"/>
          </a:xfrm>
          <a:prstGeom prst="rect">
            <a:avLst/>
          </a:prstGeom>
          <a:solidFill>
            <a:srgbClr val="065A82"/>
          </a:solidFill>
        </p:spPr>
      </p:sp>
      <p:sp>
        <p:nvSpPr>
          <p:cNvPr id="17" name="Text 15"/>
          <p:cNvSpPr/>
          <p:nvPr/>
        </p:nvSpPr>
        <p:spPr>
          <a:xfrm>
            <a:off x="7440930" y="4297680"/>
            <a:ext cx="1287018" cy="457200"/>
          </a:xfrm>
          <a:prstGeom prst="rect">
            <a:avLst/>
          </a:prstGeom>
          <a:noFill/>
        </p:spPr>
        <p:txBody>
          <a:bodyPr wrap="square" rtlCol="0" anchor="ctr"/>
          <a:lstStyle/>
          <a:p>
            <a:pPr marL="0" indent="0" algn="ctr">
              <a:buNone/>
            </a:pPr>
            <a:r>
              <a:rPr lang="en-US" sz="950" dirty="0">
                <a:solidFill>
                  <a:srgbClr val="FFFFFF"/>
                </a:solidFill>
                <a:latin typeface="Calibri" panose="020F0502020204030204" pitchFamily="34" charset="0"/>
                <a:ea typeface="Calibri" panose="020F0502020204030204" pitchFamily="34" charset="-122"/>
                <a:cs typeface="Calibri" panose="020F0502020204030204" pitchFamily="34" charset="-120"/>
              </a:rPr>
              <a:t>Redis</a:t>
            </a:r>
            <a:endParaRPr lang="en-US" sz="950" dirty="0"/>
          </a:p>
        </p:txBody>
      </p:sp>
      <p:sp>
        <p:nvSpPr>
          <p:cNvPr id="18" name="Shape 16"/>
          <p:cNvSpPr/>
          <p:nvPr/>
        </p:nvSpPr>
        <p:spPr>
          <a:xfrm>
            <a:off x="8801100" y="4297680"/>
            <a:ext cx="1287018" cy="457200"/>
          </a:xfrm>
          <a:prstGeom prst="rect">
            <a:avLst/>
          </a:prstGeom>
          <a:solidFill>
            <a:srgbClr val="0F4C81"/>
          </a:solidFill>
        </p:spPr>
      </p:sp>
      <p:sp>
        <p:nvSpPr>
          <p:cNvPr id="19" name="Text 17"/>
          <p:cNvSpPr/>
          <p:nvPr/>
        </p:nvSpPr>
        <p:spPr>
          <a:xfrm>
            <a:off x="8801100" y="4297680"/>
            <a:ext cx="1287018" cy="457200"/>
          </a:xfrm>
          <a:prstGeom prst="rect">
            <a:avLst/>
          </a:prstGeom>
          <a:noFill/>
        </p:spPr>
        <p:txBody>
          <a:bodyPr wrap="square" rtlCol="0" anchor="ctr"/>
          <a:lstStyle/>
          <a:p>
            <a:pPr marL="0" indent="0" algn="ctr">
              <a:buNone/>
            </a:pPr>
            <a:r>
              <a:rPr lang="en-US" sz="950" dirty="0">
                <a:solidFill>
                  <a:srgbClr val="FFFFFF"/>
                </a:solidFill>
                <a:latin typeface="Calibri" panose="020F0502020204030204" pitchFamily="34" charset="0"/>
                <a:ea typeface="Calibri" panose="020F0502020204030204" pitchFamily="34" charset="-122"/>
                <a:cs typeface="Calibri" panose="020F0502020204030204" pitchFamily="34" charset="-120"/>
              </a:rPr>
              <a:t>WS Gateway</a:t>
            </a:r>
            <a:endParaRPr lang="en-US" sz="950" dirty="0"/>
          </a:p>
        </p:txBody>
      </p:sp>
      <p:sp>
        <p:nvSpPr>
          <p:cNvPr id="20" name="Shape 18"/>
          <p:cNvSpPr/>
          <p:nvPr/>
        </p:nvSpPr>
        <p:spPr>
          <a:xfrm>
            <a:off x="10161270" y="4297680"/>
            <a:ext cx="1287018" cy="457200"/>
          </a:xfrm>
          <a:prstGeom prst="rect">
            <a:avLst/>
          </a:prstGeom>
          <a:solidFill>
            <a:srgbClr val="065A82"/>
          </a:solidFill>
        </p:spPr>
      </p:sp>
      <p:sp>
        <p:nvSpPr>
          <p:cNvPr id="21" name="Text 19"/>
          <p:cNvSpPr/>
          <p:nvPr/>
        </p:nvSpPr>
        <p:spPr>
          <a:xfrm>
            <a:off x="10161270" y="4297680"/>
            <a:ext cx="1287018" cy="457200"/>
          </a:xfrm>
          <a:prstGeom prst="rect">
            <a:avLst/>
          </a:prstGeom>
          <a:noFill/>
        </p:spPr>
        <p:txBody>
          <a:bodyPr wrap="square" rtlCol="0" anchor="ctr"/>
          <a:lstStyle/>
          <a:p>
            <a:pPr marL="0" indent="0" algn="ctr">
              <a:buNone/>
            </a:pPr>
            <a:r>
              <a:rPr lang="en-US" sz="950" dirty="0">
                <a:solidFill>
                  <a:srgbClr val="FFFFFF"/>
                </a:solidFill>
                <a:latin typeface="Calibri" panose="020F0502020204030204" pitchFamily="34" charset="0"/>
                <a:ea typeface="Calibri" panose="020F0502020204030204" pitchFamily="34" charset="-122"/>
                <a:cs typeface="Calibri" panose="020F0502020204030204" pitchFamily="34" charset="-120"/>
              </a:rPr>
              <a:t>Dashboard</a:t>
            </a:r>
            <a:endParaRPr lang="en-US" sz="950" dirty="0"/>
          </a:p>
        </p:txBody>
      </p:sp>
      <p:sp>
        <p:nvSpPr>
          <p:cNvPr id="22" name="Shape 20"/>
          <p:cNvSpPr/>
          <p:nvPr/>
        </p:nvSpPr>
        <p:spPr>
          <a:xfrm>
            <a:off x="640080" y="5029200"/>
            <a:ext cx="10881360" cy="0"/>
          </a:xfrm>
          <a:prstGeom prst="line">
            <a:avLst/>
          </a:prstGeom>
          <a:noFill/>
          <a:ln w="25400">
            <a:solidFill>
              <a:srgbClr val="B85042"/>
            </a:solidFill>
            <a:prstDash val="solid"/>
          </a:ln>
        </p:spPr>
      </p:sp>
      <p:sp>
        <p:nvSpPr>
          <p:cNvPr id="23" name="Text 21"/>
          <p:cNvSpPr/>
          <p:nvPr/>
        </p:nvSpPr>
        <p:spPr>
          <a:xfrm>
            <a:off x="640080" y="5120640"/>
            <a:ext cx="10881360" cy="457200"/>
          </a:xfrm>
          <a:prstGeom prst="rect">
            <a:avLst/>
          </a:prstGeom>
          <a:noFill/>
        </p:spPr>
        <p:txBody>
          <a:bodyPr wrap="square" rtlCol="0" anchor="ctr"/>
          <a:lstStyle/>
          <a:p>
            <a:pPr marL="0" indent="0" algn="ctr">
              <a:buNone/>
            </a:pPr>
            <a:r>
              <a:rPr lang="en-US" sz="1800" b="1" dirty="0">
                <a:solidFill>
                  <a:srgbClr val="B85042"/>
                </a:solidFill>
                <a:latin typeface="Calibri" panose="020F0502020204030204" pitchFamily="34" charset="0"/>
                <a:ea typeface="Calibri" panose="020F0502020204030204" pitchFamily="34" charset="-122"/>
                <a:cs typeface="Calibri" panose="020F0502020204030204" pitchFamily="34" charset="-120"/>
              </a:rPr>
              <a:t>&lt; 1 second total</a:t>
            </a:r>
            <a:endParaRPr lang="en-US" sz="1800" dirty="0"/>
          </a:p>
        </p:txBody>
      </p:sp>
      <p:sp>
        <p:nvSpPr>
          <p:cNvPr id="24" name="Text 22"/>
          <p:cNvSpPr/>
          <p:nvPr/>
        </p:nvSpPr>
        <p:spPr>
          <a:xfrm>
            <a:off x="548640" y="6537960"/>
            <a:ext cx="7315200" cy="274320"/>
          </a:xfrm>
          <a:prstGeom prst="rect">
            <a:avLst/>
          </a:prstGeom>
          <a:noFill/>
        </p:spPr>
        <p:txBody>
          <a:bodyPr wrap="square" rtlCol="0" anchor="ctr"/>
          <a:lstStyle/>
          <a:p>
            <a:pPr marL="0" indent="0">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Dhruv Rathore · 23052240 · ISTRAC Lucknow</a:t>
            </a:r>
            <a:endParaRPr lang="en-US" sz="900" dirty="0"/>
          </a:p>
        </p:txBody>
      </p:sp>
      <p:sp>
        <p:nvSpPr>
          <p:cNvPr id="25" name="Text 23"/>
          <p:cNvSpPr/>
          <p:nvPr/>
        </p:nvSpPr>
        <p:spPr>
          <a:xfrm>
            <a:off x="11247120" y="6537960"/>
            <a:ext cx="548640" cy="274320"/>
          </a:xfrm>
          <a:prstGeom prst="rect">
            <a:avLst/>
          </a:prstGeom>
          <a:noFill/>
        </p:spPr>
        <p:txBody>
          <a:bodyPr wrap="square" rtlCol="0" anchor="ctr"/>
          <a:lstStyle/>
          <a:p>
            <a:pPr marL="0" indent="0" algn="r">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18 / 28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p:spPr>
        <p:txBody>
          <a:bodyPr wrap="square" rtlCol="0" anchor="ctr"/>
          <a:lstStyle/>
          <a:p>
            <a:pPr marL="0" indent="0">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Technical Challenges Faced</a:t>
            </a:r>
            <a:endParaRPr lang="en-US" sz="3000" dirty="0"/>
          </a:p>
        </p:txBody>
      </p:sp>
      <p:sp>
        <p:nvSpPr>
          <p:cNvPr id="3" name="Shape 1"/>
          <p:cNvSpPr/>
          <p:nvPr/>
        </p:nvSpPr>
        <p:spPr>
          <a:xfrm>
            <a:off x="640080" y="1600200"/>
            <a:ext cx="10881360" cy="1280160"/>
          </a:xfrm>
          <a:prstGeom prst="roundRect">
            <a:avLst>
              <a:gd name="adj" fmla="val 5714"/>
            </a:avLst>
          </a:prstGeom>
          <a:solidFill>
            <a:srgbClr val="F4F4F4"/>
          </a:solidFill>
        </p:spPr>
      </p:sp>
      <p:sp>
        <p:nvSpPr>
          <p:cNvPr id="4" name="Shape 2"/>
          <p:cNvSpPr/>
          <p:nvPr/>
        </p:nvSpPr>
        <p:spPr>
          <a:xfrm>
            <a:off x="640080" y="1600200"/>
            <a:ext cx="109728" cy="1280160"/>
          </a:xfrm>
          <a:prstGeom prst="rect">
            <a:avLst/>
          </a:prstGeom>
          <a:solidFill>
            <a:srgbClr val="1E2761"/>
          </a:solidFill>
        </p:spPr>
      </p:sp>
      <p:sp>
        <p:nvSpPr>
          <p:cNvPr id="5" name="Text 3"/>
          <p:cNvSpPr/>
          <p:nvPr/>
        </p:nvSpPr>
        <p:spPr>
          <a:xfrm>
            <a:off x="914400" y="1673352"/>
            <a:ext cx="10332720" cy="365760"/>
          </a:xfrm>
          <a:prstGeom prst="rect">
            <a:avLst/>
          </a:prstGeom>
          <a:noFill/>
        </p:spPr>
        <p:txBody>
          <a:bodyPr wrap="square" rtlCol="0" anchor="ctr"/>
          <a:lstStyle/>
          <a:p>
            <a:pPr marL="0" indent="0">
              <a:buNone/>
            </a:pPr>
            <a:r>
              <a:rPr lang="en-US" sz="1450" b="1" dirty="0">
                <a:solidFill>
                  <a:srgbClr val="1A1A1A"/>
                </a:solidFill>
                <a:latin typeface="Calibri" panose="020F0502020204030204" pitchFamily="34" charset="0"/>
                <a:ea typeface="Calibri" panose="020F0502020204030204" pitchFamily="34" charset="-122"/>
                <a:cs typeface="Calibri" panose="020F0502020204030204" pitchFamily="34" charset="-120"/>
              </a:rPr>
              <a:t>Module System Incompatibility</a:t>
            </a:r>
            <a:endParaRPr lang="en-US" sz="1450" dirty="0"/>
          </a:p>
        </p:txBody>
      </p:sp>
      <p:sp>
        <p:nvSpPr>
          <p:cNvPr id="6" name="Text 4"/>
          <p:cNvSpPr/>
          <p:nvPr/>
        </p:nvSpPr>
        <p:spPr>
          <a:xfrm>
            <a:off x="914400" y="2057400"/>
            <a:ext cx="10332720" cy="365760"/>
          </a:xfrm>
          <a:prstGeom prst="rect">
            <a:avLst/>
          </a:prstGeom>
          <a:noFill/>
        </p:spPr>
        <p:txBody>
          <a:bodyPr wrap="square" rtlCol="0" anchor="ctr"/>
          <a:lstStyle/>
          <a:p>
            <a:pPr marL="0" indent="0">
              <a:buNone/>
            </a:pPr>
            <a:r>
              <a:rPr lang="en-US" sz="1150" dirty="0">
                <a:solidFill>
                  <a:srgbClr val="5B6472"/>
                </a:solidFill>
                <a:latin typeface="Calibri" panose="020F0502020204030204" pitchFamily="34" charset="0"/>
                <a:ea typeface="Calibri" panose="020F0502020204030204" pitchFamily="34" charset="-122"/>
                <a:cs typeface="Calibri" panose="020F0502020204030204" pitchFamily="34" charset="-120"/>
              </a:rPr>
              <a:t>Root cause: ESM-only dependency broke CommonJS require() chain</a:t>
            </a:r>
            <a:endParaRPr lang="en-US" sz="1150" dirty="0"/>
          </a:p>
        </p:txBody>
      </p:sp>
      <p:sp>
        <p:nvSpPr>
          <p:cNvPr id="7" name="Text 5"/>
          <p:cNvSpPr/>
          <p:nvPr/>
        </p:nvSpPr>
        <p:spPr>
          <a:xfrm>
            <a:off x="914400" y="2441448"/>
            <a:ext cx="10332720" cy="365760"/>
          </a:xfrm>
          <a:prstGeom prst="rect">
            <a:avLst/>
          </a:prstGeom>
          <a:noFill/>
        </p:spPr>
        <p:txBody>
          <a:bodyPr wrap="square" rtlCol="0" anchor="ctr"/>
          <a:lstStyle/>
          <a:p>
            <a:pPr marL="0" indent="0">
              <a:buNone/>
            </a:pPr>
            <a:r>
              <a:rPr lang="en-US" sz="1150" dirty="0">
                <a:solidFill>
                  <a:srgbClr val="27500A"/>
                </a:solidFill>
                <a:latin typeface="Calibri" panose="020F0502020204030204" pitchFamily="34" charset="0"/>
                <a:ea typeface="Calibri" panose="020F0502020204030204" pitchFamily="34" charset="-122"/>
                <a:cs typeface="Calibri" panose="020F0502020204030204" pitchFamily="34" charset="-120"/>
              </a:rPr>
              <a:t>Resolution: Pinned to last compatible version</a:t>
            </a:r>
            <a:endParaRPr lang="en-US" sz="1150" dirty="0"/>
          </a:p>
        </p:txBody>
      </p:sp>
      <p:sp>
        <p:nvSpPr>
          <p:cNvPr id="8" name="Shape 6"/>
          <p:cNvSpPr/>
          <p:nvPr/>
        </p:nvSpPr>
        <p:spPr>
          <a:xfrm>
            <a:off x="640080" y="3063240"/>
            <a:ext cx="10881360" cy="1280160"/>
          </a:xfrm>
          <a:prstGeom prst="roundRect">
            <a:avLst>
              <a:gd name="adj" fmla="val 5714"/>
            </a:avLst>
          </a:prstGeom>
          <a:solidFill>
            <a:srgbClr val="F4F4F4"/>
          </a:solidFill>
        </p:spPr>
      </p:sp>
      <p:sp>
        <p:nvSpPr>
          <p:cNvPr id="9" name="Shape 7"/>
          <p:cNvSpPr/>
          <p:nvPr/>
        </p:nvSpPr>
        <p:spPr>
          <a:xfrm>
            <a:off x="640080" y="3063240"/>
            <a:ext cx="109728" cy="1280160"/>
          </a:xfrm>
          <a:prstGeom prst="rect">
            <a:avLst/>
          </a:prstGeom>
          <a:solidFill>
            <a:srgbClr val="065A82"/>
          </a:solidFill>
        </p:spPr>
      </p:sp>
      <p:sp>
        <p:nvSpPr>
          <p:cNvPr id="10" name="Text 8"/>
          <p:cNvSpPr/>
          <p:nvPr/>
        </p:nvSpPr>
        <p:spPr>
          <a:xfrm>
            <a:off x="914400" y="3136392"/>
            <a:ext cx="10332720" cy="365760"/>
          </a:xfrm>
          <a:prstGeom prst="rect">
            <a:avLst/>
          </a:prstGeom>
          <a:noFill/>
        </p:spPr>
        <p:txBody>
          <a:bodyPr wrap="square" rtlCol="0" anchor="ctr"/>
          <a:lstStyle/>
          <a:p>
            <a:pPr marL="0" indent="0">
              <a:buNone/>
            </a:pPr>
            <a:r>
              <a:rPr lang="en-US" sz="1450" b="1" dirty="0">
                <a:solidFill>
                  <a:srgbClr val="1A1A1A"/>
                </a:solidFill>
                <a:latin typeface="Calibri" panose="020F0502020204030204" pitchFamily="34" charset="0"/>
                <a:ea typeface="Calibri" panose="020F0502020204030204" pitchFamily="34" charset="-122"/>
                <a:cs typeface="Calibri" panose="020F0502020204030204" pitchFamily="34" charset="-120"/>
              </a:rPr>
              <a:t>Distributed State Corruption</a:t>
            </a:r>
            <a:endParaRPr lang="en-US" sz="1450" dirty="0"/>
          </a:p>
        </p:txBody>
      </p:sp>
      <p:sp>
        <p:nvSpPr>
          <p:cNvPr id="11" name="Text 9"/>
          <p:cNvSpPr/>
          <p:nvPr/>
        </p:nvSpPr>
        <p:spPr>
          <a:xfrm>
            <a:off x="914400" y="3520440"/>
            <a:ext cx="10332720" cy="365760"/>
          </a:xfrm>
          <a:prstGeom prst="rect">
            <a:avLst/>
          </a:prstGeom>
          <a:noFill/>
        </p:spPr>
        <p:txBody>
          <a:bodyPr wrap="square" rtlCol="0" anchor="ctr"/>
          <a:lstStyle/>
          <a:p>
            <a:pPr marL="0" indent="0">
              <a:buNone/>
            </a:pPr>
            <a:r>
              <a:rPr lang="en-US" sz="1150" dirty="0">
                <a:solidFill>
                  <a:srgbClr val="5B6472"/>
                </a:solidFill>
                <a:latin typeface="Calibri" panose="020F0502020204030204" pitchFamily="34" charset="0"/>
                <a:ea typeface="Calibri" panose="020F0502020204030204" pitchFamily="34" charset="-122"/>
                <a:cs typeface="Calibri" panose="020F0502020204030204" pitchFamily="34" charset="-120"/>
              </a:rPr>
              <a:t>Root cause: Stale Kafka broker registration in Zookeeper caused startup crash</a:t>
            </a:r>
            <a:endParaRPr lang="en-US" sz="1150" dirty="0"/>
          </a:p>
        </p:txBody>
      </p:sp>
      <p:sp>
        <p:nvSpPr>
          <p:cNvPr id="12" name="Text 10"/>
          <p:cNvSpPr/>
          <p:nvPr/>
        </p:nvSpPr>
        <p:spPr>
          <a:xfrm>
            <a:off x="914400" y="3904488"/>
            <a:ext cx="10332720" cy="365760"/>
          </a:xfrm>
          <a:prstGeom prst="rect">
            <a:avLst/>
          </a:prstGeom>
          <a:noFill/>
        </p:spPr>
        <p:txBody>
          <a:bodyPr wrap="square" rtlCol="0" anchor="ctr"/>
          <a:lstStyle/>
          <a:p>
            <a:pPr marL="0" indent="0">
              <a:buNone/>
            </a:pPr>
            <a:r>
              <a:rPr lang="en-US" sz="1150" dirty="0">
                <a:solidFill>
                  <a:srgbClr val="27500A"/>
                </a:solidFill>
                <a:latin typeface="Calibri" panose="020F0502020204030204" pitchFamily="34" charset="0"/>
                <a:ea typeface="Calibri" panose="020F0502020204030204" pitchFamily="34" charset="-122"/>
                <a:cs typeface="Calibri" panose="020F0502020204030204" pitchFamily="34" charset="-120"/>
              </a:rPr>
              <a:t>Resolution: Diagnosed via Zookeeper ephemeral node lifecycle</a:t>
            </a:r>
            <a:endParaRPr lang="en-US" sz="1150" dirty="0"/>
          </a:p>
        </p:txBody>
      </p:sp>
      <p:sp>
        <p:nvSpPr>
          <p:cNvPr id="13" name="Shape 11"/>
          <p:cNvSpPr/>
          <p:nvPr/>
        </p:nvSpPr>
        <p:spPr>
          <a:xfrm>
            <a:off x="640080" y="4526280"/>
            <a:ext cx="10881360" cy="1280160"/>
          </a:xfrm>
          <a:prstGeom prst="roundRect">
            <a:avLst>
              <a:gd name="adj" fmla="val 5714"/>
            </a:avLst>
          </a:prstGeom>
          <a:solidFill>
            <a:srgbClr val="F4F4F4"/>
          </a:solidFill>
        </p:spPr>
      </p:sp>
      <p:sp>
        <p:nvSpPr>
          <p:cNvPr id="14" name="Shape 12"/>
          <p:cNvSpPr/>
          <p:nvPr/>
        </p:nvSpPr>
        <p:spPr>
          <a:xfrm>
            <a:off x="640080" y="4526280"/>
            <a:ext cx="109728" cy="1280160"/>
          </a:xfrm>
          <a:prstGeom prst="rect">
            <a:avLst/>
          </a:prstGeom>
          <a:solidFill>
            <a:srgbClr val="854F0B"/>
          </a:solidFill>
        </p:spPr>
      </p:sp>
      <p:sp>
        <p:nvSpPr>
          <p:cNvPr id="15" name="Text 13"/>
          <p:cNvSpPr/>
          <p:nvPr/>
        </p:nvSpPr>
        <p:spPr>
          <a:xfrm>
            <a:off x="914400" y="4599432"/>
            <a:ext cx="10332720" cy="365760"/>
          </a:xfrm>
          <a:prstGeom prst="rect">
            <a:avLst/>
          </a:prstGeom>
          <a:noFill/>
        </p:spPr>
        <p:txBody>
          <a:bodyPr wrap="square" rtlCol="0" anchor="ctr"/>
          <a:lstStyle/>
          <a:p>
            <a:pPr marL="0" indent="0">
              <a:buNone/>
            </a:pPr>
            <a:r>
              <a:rPr lang="en-US" sz="1450" b="1" dirty="0">
                <a:solidFill>
                  <a:srgbClr val="1A1A1A"/>
                </a:solidFill>
                <a:latin typeface="Calibri" panose="020F0502020204030204" pitchFamily="34" charset="0"/>
                <a:ea typeface="Calibri" panose="020F0502020204030204" pitchFamily="34" charset="-122"/>
                <a:cs typeface="Calibri" panose="020F0502020204030204" pitchFamily="34" charset="-120"/>
              </a:rPr>
              <a:t>Cross-Service Build Isolation</a:t>
            </a:r>
            <a:endParaRPr lang="en-US" sz="1450" dirty="0"/>
          </a:p>
        </p:txBody>
      </p:sp>
      <p:sp>
        <p:nvSpPr>
          <p:cNvPr id="16" name="Text 14"/>
          <p:cNvSpPr/>
          <p:nvPr/>
        </p:nvSpPr>
        <p:spPr>
          <a:xfrm>
            <a:off x="914400" y="4983480"/>
            <a:ext cx="10332720" cy="365760"/>
          </a:xfrm>
          <a:prstGeom prst="rect">
            <a:avLst/>
          </a:prstGeom>
          <a:noFill/>
        </p:spPr>
        <p:txBody>
          <a:bodyPr wrap="square" rtlCol="0" anchor="ctr"/>
          <a:lstStyle/>
          <a:p>
            <a:pPr marL="0" indent="0">
              <a:buNone/>
            </a:pPr>
            <a:r>
              <a:rPr lang="en-US" sz="1150" dirty="0">
                <a:solidFill>
                  <a:srgbClr val="5B6472"/>
                </a:solidFill>
                <a:latin typeface="Calibri" panose="020F0502020204030204" pitchFamily="34" charset="0"/>
                <a:ea typeface="Calibri" panose="020F0502020204030204" pitchFamily="34" charset="-122"/>
                <a:cs typeface="Calibri" panose="020F0502020204030204" pitchFamily="34" charset="-120"/>
              </a:rPr>
              <a:t>Root cause: Shared types broke inside isolated Docker build contexts</a:t>
            </a:r>
            <a:endParaRPr lang="en-US" sz="1150" dirty="0"/>
          </a:p>
        </p:txBody>
      </p:sp>
      <p:sp>
        <p:nvSpPr>
          <p:cNvPr id="17" name="Text 15"/>
          <p:cNvSpPr/>
          <p:nvPr/>
        </p:nvSpPr>
        <p:spPr>
          <a:xfrm>
            <a:off x="914400" y="5367528"/>
            <a:ext cx="10332720" cy="365760"/>
          </a:xfrm>
          <a:prstGeom prst="rect">
            <a:avLst/>
          </a:prstGeom>
          <a:noFill/>
        </p:spPr>
        <p:txBody>
          <a:bodyPr wrap="square" rtlCol="0" anchor="ctr"/>
          <a:lstStyle/>
          <a:p>
            <a:pPr marL="0" indent="0">
              <a:buNone/>
            </a:pPr>
            <a:r>
              <a:rPr lang="en-US" sz="1150" dirty="0">
                <a:solidFill>
                  <a:srgbClr val="27500A"/>
                </a:solidFill>
                <a:latin typeface="Calibri" panose="020F0502020204030204" pitchFamily="34" charset="0"/>
                <a:ea typeface="Calibri" panose="020F0502020204030204" pitchFamily="34" charset="-122"/>
                <a:cs typeface="Calibri" panose="020F0502020204030204" pitchFamily="34" charset="-120"/>
              </a:rPr>
              <a:t>Resolution: Restructured type sharing per service</a:t>
            </a:r>
            <a:endParaRPr lang="en-US" sz="1150" dirty="0"/>
          </a:p>
        </p:txBody>
      </p:sp>
      <p:sp>
        <p:nvSpPr>
          <p:cNvPr id="18" name="Text 16"/>
          <p:cNvSpPr/>
          <p:nvPr/>
        </p:nvSpPr>
        <p:spPr>
          <a:xfrm>
            <a:off x="548640" y="6537960"/>
            <a:ext cx="7315200" cy="274320"/>
          </a:xfrm>
          <a:prstGeom prst="rect">
            <a:avLst/>
          </a:prstGeom>
          <a:noFill/>
        </p:spPr>
        <p:txBody>
          <a:bodyPr wrap="square" rtlCol="0" anchor="ctr"/>
          <a:lstStyle/>
          <a:p>
            <a:pPr marL="0" indent="0">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Dhruv Rathore · 23052240 · ISTRAC Lucknow</a:t>
            </a:r>
            <a:endParaRPr lang="en-US" sz="900" dirty="0"/>
          </a:p>
        </p:txBody>
      </p:sp>
      <p:sp>
        <p:nvSpPr>
          <p:cNvPr id="19" name="Text 17"/>
          <p:cNvSpPr/>
          <p:nvPr/>
        </p:nvSpPr>
        <p:spPr>
          <a:xfrm>
            <a:off x="11247120" y="6537960"/>
            <a:ext cx="548640" cy="274320"/>
          </a:xfrm>
          <a:prstGeom prst="rect">
            <a:avLst/>
          </a:prstGeom>
          <a:noFill/>
        </p:spPr>
        <p:txBody>
          <a:bodyPr wrap="square" rtlCol="0" anchor="ctr"/>
          <a:lstStyle/>
          <a:p>
            <a:pPr marL="0" indent="0" algn="r">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19 / 28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p:spPr>
        <p:txBody>
          <a:bodyPr wrap="square" rtlCol="0" anchor="ctr"/>
          <a:lstStyle/>
          <a:p>
            <a:pPr marL="0" indent="0">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Engineering Decisions and Trade-offs</a:t>
            </a:r>
            <a:endParaRPr lang="en-US" sz="3000" dirty="0"/>
          </a:p>
        </p:txBody>
      </p:sp>
      <p:graphicFrame>
        <p:nvGraphicFramePr>
          <p:cNvPr id="21" name="Table 0"/>
          <p:cNvGraphicFramePr>
            <a:graphicFrameLocks noGrp="1"/>
          </p:cNvGraphicFramePr>
          <p:nvPr/>
        </p:nvGraphicFramePr>
        <p:xfrm>
          <a:off x="640080" y="1645920"/>
          <a:ext cx="10881360" cy="3429000"/>
        </p:xfrm>
        <a:graphic>
          <a:graphicData uri="http://schemas.openxmlformats.org/drawingml/2006/table">
            <a:tbl>
              <a:tblPr/>
              <a:tblGrid>
                <a:gridCol w="4572000"/>
                <a:gridCol w="6309360"/>
              </a:tblGrid>
              <a:tr h="685800">
                <a:tc>
                  <a:txBody>
                    <a:bodyPr/>
                    <a:lstStyle/>
                    <a:p>
                      <a:pPr marL="0" indent="0">
                        <a:buNone/>
                      </a:pPr>
                      <a:r>
                        <a:rPr lang="en-US" sz="1350" b="1" dirty="0">
                          <a:solidFill>
                            <a:srgbClr val="FFFFFF"/>
                          </a:solidFill>
                        </a:rPr>
                        <a:t>Decision</a:t>
                      </a:r>
                      <a:endParaRPr lang="en-US" sz="135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E2761"/>
                    </a:solidFill>
                  </a:tcPr>
                </a:tc>
                <a:tc>
                  <a:txBody>
                    <a:bodyPr/>
                    <a:lstStyle/>
                    <a:p>
                      <a:pPr marL="0" indent="0">
                        <a:buNone/>
                      </a:pPr>
                      <a:r>
                        <a:rPr lang="en-US" sz="1350" b="1" dirty="0">
                          <a:solidFill>
                            <a:srgbClr val="FFFFFF"/>
                          </a:solidFill>
                        </a:rPr>
                        <a:t>Chosen Because</a:t>
                      </a:r>
                      <a:endParaRPr lang="en-US" sz="135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E2761"/>
                    </a:solidFill>
                  </a:tcPr>
                </a:tc>
              </a:tr>
              <a:tr h="685800">
                <a:tc>
                  <a:txBody>
                    <a:bodyPr/>
                    <a:lstStyle/>
                    <a:p>
                      <a:pPr marL="0" indent="0">
                        <a:buNone/>
                      </a:pPr>
                      <a:r>
                        <a:rPr lang="en-US" sz="1300" b="1" dirty="0">
                          <a:solidFill>
                            <a:srgbClr val="065A82"/>
                          </a:solidFill>
                        </a:rPr>
                        <a:t>Kafka over RabbitMQ / Redis Streams</a:t>
                      </a:r>
                      <a:endParaRPr lang="en-US" sz="13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300" dirty="0">
                          <a:solidFill>
                            <a:srgbClr val="1A1A1A"/>
                          </a:solidFill>
                        </a:rPr>
                        <a:t>Replay capability and durable, partitioned retention</a:t>
                      </a:r>
                      <a:endParaRPr lang="en-US" sz="13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685800">
                <a:tc>
                  <a:txBody>
                    <a:bodyPr/>
                    <a:lstStyle/>
                    <a:p>
                      <a:pPr marL="0" indent="0">
                        <a:buNone/>
                      </a:pPr>
                      <a:r>
                        <a:rPr lang="en-US" sz="1300" b="1" dirty="0">
                          <a:solidFill>
                            <a:srgbClr val="065A82"/>
                          </a:solidFill>
                        </a:rPr>
                        <a:t>Fastify over Express</a:t>
                      </a:r>
                      <a:endParaRPr lang="en-US" sz="13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marL="0" indent="0">
                        <a:buNone/>
                      </a:pPr>
                      <a:r>
                        <a:rPr lang="en-US" sz="1300" dirty="0">
                          <a:solidFill>
                            <a:srgbClr val="1A1A1A"/>
                          </a:solidFill>
                        </a:rPr>
                        <a:t>Higher throughput on a high-frequency ingestion endpoint</a:t>
                      </a:r>
                      <a:endParaRPr lang="en-US" sz="13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r>
              <a:tr h="685800">
                <a:tc>
                  <a:txBody>
                    <a:bodyPr/>
                    <a:lstStyle/>
                    <a:p>
                      <a:pPr marL="0" indent="0">
                        <a:buNone/>
                      </a:pPr>
                      <a:r>
                        <a:rPr lang="en-US" sz="1300" b="1" dirty="0">
                          <a:solidFill>
                            <a:srgbClr val="065A82"/>
                          </a:solidFill>
                        </a:rPr>
                        <a:t>OpenSearch over Elasticsearch</a:t>
                      </a:r>
                      <a:endParaRPr lang="en-US" sz="13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300" dirty="0">
                          <a:solidFill>
                            <a:srgbClr val="1A1A1A"/>
                          </a:solidFill>
                        </a:rPr>
                        <a:t>Unrestricted open-source licensing for institutional use</a:t>
                      </a:r>
                      <a:endParaRPr lang="en-US" sz="13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685800">
                <a:tc>
                  <a:txBody>
                    <a:bodyPr/>
                    <a:lstStyle/>
                    <a:p>
                      <a:pPr marL="0" indent="0">
                        <a:buNone/>
                      </a:pPr>
                      <a:r>
                        <a:rPr lang="en-US" sz="1300" b="1" dirty="0">
                          <a:solidFill>
                            <a:srgbClr val="065A82"/>
                          </a:solidFill>
                        </a:rPr>
                        <a:t>Multi-database over one-size-fits-all</a:t>
                      </a:r>
                      <a:endParaRPr lang="en-US" sz="13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marL="0" indent="0">
                        <a:buNone/>
                      </a:pPr>
                      <a:r>
                        <a:rPr lang="en-US" sz="1300" dirty="0">
                          <a:solidFill>
                            <a:srgbClr val="1A1A1A"/>
                          </a:solidFill>
                        </a:rPr>
                        <a:t>Each store optimized for its specific access pattern</a:t>
                      </a:r>
                      <a:endParaRPr lang="en-US" sz="13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r>
            </a:tbl>
          </a:graphicData>
        </a:graphic>
      </p:graphicFrame>
      <p:sp>
        <p:nvSpPr>
          <p:cNvPr id="4" name="Text 1"/>
          <p:cNvSpPr/>
          <p:nvPr/>
        </p:nvSpPr>
        <p:spPr>
          <a:xfrm>
            <a:off x="548640" y="6537960"/>
            <a:ext cx="7315200" cy="274320"/>
          </a:xfrm>
          <a:prstGeom prst="rect">
            <a:avLst/>
          </a:prstGeom>
          <a:noFill/>
        </p:spPr>
        <p:txBody>
          <a:bodyPr wrap="square" rtlCol="0" anchor="ctr"/>
          <a:lstStyle/>
          <a:p>
            <a:pPr marL="0" indent="0">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Dhruv Rathore · 23052240 · ISTRAC Lucknow</a:t>
            </a:r>
            <a:endParaRPr lang="en-US" sz="900" dirty="0"/>
          </a:p>
        </p:txBody>
      </p:sp>
      <p:sp>
        <p:nvSpPr>
          <p:cNvPr id="5" name="Text 2"/>
          <p:cNvSpPr/>
          <p:nvPr/>
        </p:nvSpPr>
        <p:spPr>
          <a:xfrm>
            <a:off x="11247120" y="6537960"/>
            <a:ext cx="548640" cy="274320"/>
          </a:xfrm>
          <a:prstGeom prst="rect">
            <a:avLst/>
          </a:prstGeom>
          <a:noFill/>
        </p:spPr>
        <p:txBody>
          <a:bodyPr wrap="square" rtlCol="0" anchor="ctr"/>
          <a:lstStyle/>
          <a:p>
            <a:pPr marL="0" indent="0" algn="r">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20 / 28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p:spPr>
        <p:txBody>
          <a:bodyPr wrap="square" rtlCol="0" anchor="ctr"/>
          <a:lstStyle/>
          <a:p>
            <a:pPr marL="0" indent="0">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Future Enhancements — Phase 2 Roadmap</a:t>
            </a:r>
            <a:endParaRPr lang="en-US" sz="3000" dirty="0"/>
          </a:p>
        </p:txBody>
      </p:sp>
      <p:sp>
        <p:nvSpPr>
          <p:cNvPr id="3" name="Shape 1"/>
          <p:cNvSpPr/>
          <p:nvPr/>
        </p:nvSpPr>
        <p:spPr>
          <a:xfrm>
            <a:off x="640080" y="1554480"/>
            <a:ext cx="384048" cy="384048"/>
          </a:xfrm>
          <a:prstGeom prst="ellipse">
            <a:avLst/>
          </a:prstGeom>
          <a:solidFill>
            <a:srgbClr val="B85042"/>
          </a:solidFill>
        </p:spPr>
      </p:sp>
      <p:sp>
        <p:nvSpPr>
          <p:cNvPr id="4" name="Text 2"/>
          <p:cNvSpPr/>
          <p:nvPr/>
        </p:nvSpPr>
        <p:spPr>
          <a:xfrm>
            <a:off x="640080" y="1554480"/>
            <a:ext cx="384048" cy="384048"/>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400" dirty="0"/>
          </a:p>
        </p:txBody>
      </p:sp>
      <p:sp>
        <p:nvSpPr>
          <p:cNvPr id="5" name="Text 3"/>
          <p:cNvSpPr/>
          <p:nvPr/>
        </p:nvSpPr>
        <p:spPr>
          <a:xfrm>
            <a:off x="1188720" y="1499616"/>
            <a:ext cx="3291840" cy="457200"/>
          </a:xfrm>
          <a:prstGeom prst="rect">
            <a:avLst/>
          </a:prstGeom>
          <a:noFill/>
        </p:spPr>
        <p:txBody>
          <a:bodyPr wrap="square" rtlCol="0" anchor="ctr"/>
          <a:lstStyle/>
          <a:p>
            <a:pPr marL="0" indent="0">
              <a:buNone/>
            </a:pPr>
            <a:r>
              <a:rPr lang="en-US" sz="1500" b="1" dirty="0">
                <a:solidFill>
                  <a:srgbClr val="1A1A1A"/>
                </a:solidFill>
                <a:latin typeface="Calibri" panose="020F0502020204030204" pitchFamily="34" charset="0"/>
                <a:ea typeface="Calibri" panose="020F0502020204030204" pitchFamily="34" charset="-122"/>
                <a:cs typeface="Calibri" panose="020F0502020204030204" pitchFamily="34" charset="-120"/>
              </a:rPr>
              <a:t>Alert Engine</a:t>
            </a:r>
            <a:endParaRPr lang="en-US" sz="1500" dirty="0"/>
          </a:p>
        </p:txBody>
      </p:sp>
      <p:sp>
        <p:nvSpPr>
          <p:cNvPr id="6" name="Text 4"/>
          <p:cNvSpPr/>
          <p:nvPr/>
        </p:nvSpPr>
        <p:spPr>
          <a:xfrm>
            <a:off x="4526280" y="1536192"/>
            <a:ext cx="7040880" cy="502920"/>
          </a:xfrm>
          <a:prstGeom prst="rect">
            <a:avLst/>
          </a:prstGeom>
          <a:noFill/>
        </p:spPr>
        <p:txBody>
          <a:bodyPr wrap="square" rtlCol="0" anchor="ctr"/>
          <a:lstStyle/>
          <a:p>
            <a:pPr marL="0" indent="0">
              <a:buNone/>
            </a:pPr>
            <a:r>
              <a:rPr lang="en-US" sz="1250" dirty="0">
                <a:solidFill>
                  <a:srgbClr val="5B6472"/>
                </a:solidFill>
                <a:latin typeface="Calibri" panose="020F0502020204030204" pitchFamily="34" charset="0"/>
                <a:ea typeface="Calibri" panose="020F0502020204030204" pitchFamily="34" charset="-122"/>
                <a:cs typeface="Calibri" panose="020F0502020204030204" pitchFamily="34" charset="-120"/>
              </a:rPr>
              <a:t>Rule-based triggers with webhook/notification delivery — DB schema already in place</a:t>
            </a:r>
            <a:endParaRPr lang="en-US" sz="1250" dirty="0"/>
          </a:p>
        </p:txBody>
      </p:sp>
      <p:sp>
        <p:nvSpPr>
          <p:cNvPr id="7" name="Shape 5"/>
          <p:cNvSpPr/>
          <p:nvPr/>
        </p:nvSpPr>
        <p:spPr>
          <a:xfrm>
            <a:off x="640080" y="2423160"/>
            <a:ext cx="384048" cy="384048"/>
          </a:xfrm>
          <a:prstGeom prst="ellipse">
            <a:avLst/>
          </a:prstGeom>
          <a:solidFill>
            <a:srgbClr val="854F0B"/>
          </a:solidFill>
        </p:spPr>
      </p:sp>
      <p:sp>
        <p:nvSpPr>
          <p:cNvPr id="8" name="Text 6"/>
          <p:cNvSpPr/>
          <p:nvPr/>
        </p:nvSpPr>
        <p:spPr>
          <a:xfrm>
            <a:off x="640080" y="2423160"/>
            <a:ext cx="384048" cy="384048"/>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400" dirty="0"/>
          </a:p>
        </p:txBody>
      </p:sp>
      <p:sp>
        <p:nvSpPr>
          <p:cNvPr id="9" name="Text 7"/>
          <p:cNvSpPr/>
          <p:nvPr/>
        </p:nvSpPr>
        <p:spPr>
          <a:xfrm>
            <a:off x="1188720" y="2368296"/>
            <a:ext cx="3291840" cy="457200"/>
          </a:xfrm>
          <a:prstGeom prst="rect">
            <a:avLst/>
          </a:prstGeom>
          <a:noFill/>
        </p:spPr>
        <p:txBody>
          <a:bodyPr wrap="square" rtlCol="0" anchor="ctr"/>
          <a:lstStyle/>
          <a:p>
            <a:pPr marL="0" indent="0">
              <a:buNone/>
            </a:pPr>
            <a:r>
              <a:rPr lang="en-US" sz="1500" b="1" dirty="0">
                <a:solidFill>
                  <a:srgbClr val="1A1A1A"/>
                </a:solidFill>
                <a:latin typeface="Calibri" panose="020F0502020204030204" pitchFamily="34" charset="0"/>
                <a:ea typeface="Calibri" panose="020F0502020204030204" pitchFamily="34" charset="-122"/>
                <a:cs typeface="Calibri" panose="020F0502020204030204" pitchFamily="34" charset="-120"/>
              </a:rPr>
              <a:t>Additional Parsers</a:t>
            </a:r>
            <a:endParaRPr lang="en-US" sz="1500" dirty="0"/>
          </a:p>
        </p:txBody>
      </p:sp>
      <p:sp>
        <p:nvSpPr>
          <p:cNvPr id="10" name="Text 8"/>
          <p:cNvSpPr/>
          <p:nvPr/>
        </p:nvSpPr>
        <p:spPr>
          <a:xfrm>
            <a:off x="4526280" y="2404872"/>
            <a:ext cx="7040880" cy="502920"/>
          </a:xfrm>
          <a:prstGeom prst="rect">
            <a:avLst/>
          </a:prstGeom>
          <a:noFill/>
        </p:spPr>
        <p:txBody>
          <a:bodyPr wrap="square" rtlCol="0" anchor="ctr"/>
          <a:lstStyle/>
          <a:p>
            <a:pPr marL="0" indent="0">
              <a:buNone/>
            </a:pPr>
            <a:r>
              <a:rPr lang="en-US" sz="1250" dirty="0">
                <a:solidFill>
                  <a:srgbClr val="5B6472"/>
                </a:solidFill>
                <a:latin typeface="Calibri" panose="020F0502020204030204" pitchFamily="34" charset="0"/>
                <a:ea typeface="Calibri" panose="020F0502020204030204" pitchFamily="34" charset="-122"/>
                <a:cs typeface="Calibri" panose="020F0502020204030204" pitchFamily="34" charset="-120"/>
              </a:rPr>
              <a:t>CSV, XML, and Syslog (RFC 5424) plugin support using the existing pipeline interface</a:t>
            </a:r>
            <a:endParaRPr lang="en-US" sz="1250" dirty="0"/>
          </a:p>
        </p:txBody>
      </p:sp>
      <p:sp>
        <p:nvSpPr>
          <p:cNvPr id="11" name="Shape 9"/>
          <p:cNvSpPr/>
          <p:nvPr/>
        </p:nvSpPr>
        <p:spPr>
          <a:xfrm>
            <a:off x="640080" y="3291840"/>
            <a:ext cx="384048" cy="384048"/>
          </a:xfrm>
          <a:prstGeom prst="ellipse">
            <a:avLst/>
          </a:prstGeom>
          <a:solidFill>
            <a:srgbClr val="065A82"/>
          </a:solidFill>
        </p:spPr>
      </p:sp>
      <p:sp>
        <p:nvSpPr>
          <p:cNvPr id="12" name="Text 10"/>
          <p:cNvSpPr/>
          <p:nvPr/>
        </p:nvSpPr>
        <p:spPr>
          <a:xfrm>
            <a:off x="640080" y="3291840"/>
            <a:ext cx="384048" cy="384048"/>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400" dirty="0"/>
          </a:p>
        </p:txBody>
      </p:sp>
      <p:sp>
        <p:nvSpPr>
          <p:cNvPr id="13" name="Text 11"/>
          <p:cNvSpPr/>
          <p:nvPr/>
        </p:nvSpPr>
        <p:spPr>
          <a:xfrm>
            <a:off x="1188720" y="3236976"/>
            <a:ext cx="3291840" cy="457200"/>
          </a:xfrm>
          <a:prstGeom prst="rect">
            <a:avLst/>
          </a:prstGeom>
          <a:noFill/>
        </p:spPr>
        <p:txBody>
          <a:bodyPr wrap="square" rtlCol="0" anchor="ctr"/>
          <a:lstStyle/>
          <a:p>
            <a:pPr marL="0" indent="0">
              <a:buNone/>
            </a:pPr>
            <a:r>
              <a:rPr lang="en-US" sz="1500" b="1" dirty="0">
                <a:solidFill>
                  <a:srgbClr val="1A1A1A"/>
                </a:solidFill>
                <a:latin typeface="Calibri" panose="020F0502020204030204" pitchFamily="34" charset="0"/>
                <a:ea typeface="Calibri" panose="020F0502020204030204" pitchFamily="34" charset="-122"/>
                <a:cs typeface="Calibri" panose="020F0502020204030204" pitchFamily="34" charset="-120"/>
              </a:rPr>
              <a:t>ClickHouse Integration</a:t>
            </a:r>
            <a:endParaRPr lang="en-US" sz="1500" dirty="0"/>
          </a:p>
        </p:txBody>
      </p:sp>
      <p:sp>
        <p:nvSpPr>
          <p:cNvPr id="14" name="Text 12"/>
          <p:cNvSpPr/>
          <p:nvPr/>
        </p:nvSpPr>
        <p:spPr>
          <a:xfrm>
            <a:off x="4526280" y="3273552"/>
            <a:ext cx="7040880" cy="502920"/>
          </a:xfrm>
          <a:prstGeom prst="rect">
            <a:avLst/>
          </a:prstGeom>
          <a:noFill/>
        </p:spPr>
        <p:txBody>
          <a:bodyPr wrap="square" rtlCol="0" anchor="ctr"/>
          <a:lstStyle/>
          <a:p>
            <a:pPr marL="0" indent="0">
              <a:buNone/>
            </a:pPr>
            <a:r>
              <a:rPr lang="en-US" sz="1250" dirty="0">
                <a:solidFill>
                  <a:srgbClr val="5B6472"/>
                </a:solidFill>
                <a:latin typeface="Calibri" panose="020F0502020204030204" pitchFamily="34" charset="0"/>
                <a:ea typeface="Calibri" panose="020F0502020204030204" pitchFamily="34" charset="-122"/>
                <a:cs typeface="Calibri" panose="020F0502020204030204" pitchFamily="34" charset="-120"/>
              </a:rPr>
              <a:t>Wire the normalizer to enable high-speed historical analytics</a:t>
            </a:r>
            <a:endParaRPr lang="en-US" sz="1250" dirty="0"/>
          </a:p>
        </p:txBody>
      </p:sp>
      <p:sp>
        <p:nvSpPr>
          <p:cNvPr id="15" name="Shape 13"/>
          <p:cNvSpPr/>
          <p:nvPr/>
        </p:nvSpPr>
        <p:spPr>
          <a:xfrm>
            <a:off x="640080" y="4160520"/>
            <a:ext cx="384048" cy="384048"/>
          </a:xfrm>
          <a:prstGeom prst="ellipse">
            <a:avLst/>
          </a:prstGeom>
          <a:solidFill>
            <a:srgbClr val="0F4C81"/>
          </a:solidFill>
        </p:spPr>
      </p:sp>
      <p:sp>
        <p:nvSpPr>
          <p:cNvPr id="16" name="Text 14"/>
          <p:cNvSpPr/>
          <p:nvPr/>
        </p:nvSpPr>
        <p:spPr>
          <a:xfrm>
            <a:off x="640080" y="4160520"/>
            <a:ext cx="384048" cy="384048"/>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400" dirty="0"/>
          </a:p>
        </p:txBody>
      </p:sp>
      <p:sp>
        <p:nvSpPr>
          <p:cNvPr id="17" name="Text 15"/>
          <p:cNvSpPr/>
          <p:nvPr/>
        </p:nvSpPr>
        <p:spPr>
          <a:xfrm>
            <a:off x="1188720" y="4105656"/>
            <a:ext cx="3291840" cy="457200"/>
          </a:xfrm>
          <a:prstGeom prst="rect">
            <a:avLst/>
          </a:prstGeom>
          <a:noFill/>
        </p:spPr>
        <p:txBody>
          <a:bodyPr wrap="square" rtlCol="0" anchor="ctr"/>
          <a:lstStyle/>
          <a:p>
            <a:pPr marL="0" indent="0">
              <a:buNone/>
            </a:pPr>
            <a:r>
              <a:rPr lang="en-US" sz="1500" b="1" dirty="0">
                <a:solidFill>
                  <a:srgbClr val="1A1A1A"/>
                </a:solidFill>
                <a:latin typeface="Calibri" panose="020F0502020204030204" pitchFamily="34" charset="0"/>
                <a:ea typeface="Calibri" panose="020F0502020204030204" pitchFamily="34" charset="-122"/>
                <a:cs typeface="Calibri" panose="020F0502020204030204" pitchFamily="34" charset="-120"/>
              </a:rPr>
              <a:t>Formal Load Testing</a:t>
            </a:r>
            <a:endParaRPr lang="en-US" sz="1500" dirty="0"/>
          </a:p>
        </p:txBody>
      </p:sp>
      <p:sp>
        <p:nvSpPr>
          <p:cNvPr id="18" name="Text 16"/>
          <p:cNvSpPr/>
          <p:nvPr/>
        </p:nvSpPr>
        <p:spPr>
          <a:xfrm>
            <a:off x="4526280" y="4142232"/>
            <a:ext cx="7040880" cy="502920"/>
          </a:xfrm>
          <a:prstGeom prst="rect">
            <a:avLst/>
          </a:prstGeom>
          <a:noFill/>
        </p:spPr>
        <p:txBody>
          <a:bodyPr wrap="square" rtlCol="0" anchor="ctr"/>
          <a:lstStyle/>
          <a:p>
            <a:pPr marL="0" indent="0">
              <a:buNone/>
            </a:pPr>
            <a:r>
              <a:rPr lang="en-US" sz="1250" dirty="0">
                <a:solidFill>
                  <a:srgbClr val="5B6472"/>
                </a:solidFill>
                <a:latin typeface="Calibri" panose="020F0502020204030204" pitchFamily="34" charset="0"/>
                <a:ea typeface="Calibri" panose="020F0502020204030204" pitchFamily="34" charset="-122"/>
                <a:cs typeface="Calibri" panose="020F0502020204030204" pitchFamily="34" charset="-120"/>
              </a:rPr>
              <a:t>Instrumented throughput and latency validation at production scale</a:t>
            </a:r>
            <a:endParaRPr lang="en-US" sz="1250" dirty="0"/>
          </a:p>
        </p:txBody>
      </p:sp>
      <p:sp>
        <p:nvSpPr>
          <p:cNvPr id="19" name="Shape 17"/>
          <p:cNvSpPr/>
          <p:nvPr/>
        </p:nvSpPr>
        <p:spPr>
          <a:xfrm>
            <a:off x="640080" y="5029200"/>
            <a:ext cx="384048" cy="384048"/>
          </a:xfrm>
          <a:prstGeom prst="ellipse">
            <a:avLst/>
          </a:prstGeom>
          <a:solidFill>
            <a:srgbClr val="2C5F2D"/>
          </a:solidFill>
        </p:spPr>
      </p:sp>
      <p:sp>
        <p:nvSpPr>
          <p:cNvPr id="20" name="Text 18"/>
          <p:cNvSpPr/>
          <p:nvPr/>
        </p:nvSpPr>
        <p:spPr>
          <a:xfrm>
            <a:off x="640080" y="5029200"/>
            <a:ext cx="384048" cy="384048"/>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400" dirty="0"/>
          </a:p>
        </p:txBody>
      </p:sp>
      <p:sp>
        <p:nvSpPr>
          <p:cNvPr id="21" name="Text 19"/>
          <p:cNvSpPr/>
          <p:nvPr/>
        </p:nvSpPr>
        <p:spPr>
          <a:xfrm>
            <a:off x="1188720" y="4974336"/>
            <a:ext cx="3291840" cy="457200"/>
          </a:xfrm>
          <a:prstGeom prst="rect">
            <a:avLst/>
          </a:prstGeom>
          <a:noFill/>
        </p:spPr>
        <p:txBody>
          <a:bodyPr wrap="square" rtlCol="0" anchor="ctr"/>
          <a:lstStyle/>
          <a:p>
            <a:pPr marL="0" indent="0">
              <a:buNone/>
            </a:pPr>
            <a:r>
              <a:rPr lang="en-US" sz="1500" b="1" dirty="0">
                <a:solidFill>
                  <a:srgbClr val="1A1A1A"/>
                </a:solidFill>
                <a:latin typeface="Calibri" panose="020F0502020204030204" pitchFamily="34" charset="0"/>
                <a:ea typeface="Calibri" panose="020F0502020204030204" pitchFamily="34" charset="-122"/>
                <a:cs typeface="Calibri" panose="020F0502020204030204" pitchFamily="34" charset="-120"/>
              </a:rPr>
              <a:t>Kubernetes Deployment</a:t>
            </a:r>
            <a:endParaRPr lang="en-US" sz="1500" dirty="0"/>
          </a:p>
        </p:txBody>
      </p:sp>
      <p:sp>
        <p:nvSpPr>
          <p:cNvPr id="22" name="Text 20"/>
          <p:cNvSpPr/>
          <p:nvPr/>
        </p:nvSpPr>
        <p:spPr>
          <a:xfrm>
            <a:off x="4526280" y="5010912"/>
            <a:ext cx="7040880" cy="502920"/>
          </a:xfrm>
          <a:prstGeom prst="rect">
            <a:avLst/>
          </a:prstGeom>
          <a:noFill/>
        </p:spPr>
        <p:txBody>
          <a:bodyPr wrap="square" rtlCol="0" anchor="ctr"/>
          <a:lstStyle/>
          <a:p>
            <a:pPr marL="0" indent="0">
              <a:buNone/>
            </a:pPr>
            <a:r>
              <a:rPr lang="en-US" sz="1250" dirty="0">
                <a:solidFill>
                  <a:srgbClr val="5B6472"/>
                </a:solidFill>
                <a:latin typeface="Calibri" panose="020F0502020204030204" pitchFamily="34" charset="0"/>
                <a:ea typeface="Calibri" panose="020F0502020204030204" pitchFamily="34" charset="-122"/>
                <a:cs typeface="Calibri" panose="020F0502020204030204" pitchFamily="34" charset="-120"/>
              </a:rPr>
              <a:t>Production-grade orchestration with auto-scaling for all services</a:t>
            </a:r>
            <a:endParaRPr lang="en-US" sz="1250" dirty="0"/>
          </a:p>
        </p:txBody>
      </p:sp>
      <p:sp>
        <p:nvSpPr>
          <p:cNvPr id="23" name="Shape 21"/>
          <p:cNvSpPr/>
          <p:nvPr/>
        </p:nvSpPr>
        <p:spPr>
          <a:xfrm>
            <a:off x="640080" y="5989320"/>
            <a:ext cx="10881360" cy="502920"/>
          </a:xfrm>
          <a:prstGeom prst="roundRect">
            <a:avLst>
              <a:gd name="adj" fmla="val 10909"/>
            </a:avLst>
          </a:prstGeom>
          <a:solidFill>
            <a:srgbClr val="EAF3DE"/>
          </a:solidFill>
        </p:spPr>
      </p:sp>
      <p:sp>
        <p:nvSpPr>
          <p:cNvPr id="24" name="Text 22"/>
          <p:cNvSpPr/>
          <p:nvPr/>
        </p:nvSpPr>
        <p:spPr>
          <a:xfrm>
            <a:off x="640080" y="5989320"/>
            <a:ext cx="10881360" cy="502920"/>
          </a:xfrm>
          <a:prstGeom prst="rect">
            <a:avLst/>
          </a:prstGeom>
          <a:noFill/>
        </p:spPr>
        <p:txBody>
          <a:bodyPr wrap="square" rtlCol="0" anchor="ctr"/>
          <a:lstStyle/>
          <a:p>
            <a:pPr marL="0" indent="0" algn="ctr">
              <a:buNone/>
            </a:pPr>
            <a:r>
              <a:rPr lang="en-US" sz="1200" i="1" dirty="0">
                <a:solidFill>
                  <a:srgbClr val="27500A"/>
                </a:solidFill>
                <a:latin typeface="Calibri" panose="020F0502020204030204" pitchFamily="34" charset="0"/>
                <a:ea typeface="Calibri" panose="020F0502020204030204" pitchFamily="34" charset="-122"/>
                <a:cs typeface="Calibri" panose="020F0502020204030204" pitchFamily="34" charset="-120"/>
              </a:rPr>
              <a:t>This prototype validates the architecture — the roadmap above extends it, not redesigns it</a:t>
            </a:r>
            <a:endParaRPr lang="en-US" sz="1200" dirty="0"/>
          </a:p>
        </p:txBody>
      </p:sp>
      <p:sp>
        <p:nvSpPr>
          <p:cNvPr id="25" name="Text 23"/>
          <p:cNvSpPr/>
          <p:nvPr/>
        </p:nvSpPr>
        <p:spPr>
          <a:xfrm>
            <a:off x="548640" y="6537960"/>
            <a:ext cx="7315200" cy="274320"/>
          </a:xfrm>
          <a:prstGeom prst="rect">
            <a:avLst/>
          </a:prstGeom>
          <a:noFill/>
        </p:spPr>
        <p:txBody>
          <a:bodyPr wrap="square" rtlCol="0" anchor="ctr"/>
          <a:lstStyle/>
          <a:p>
            <a:pPr marL="0" indent="0">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Dhruv Rathore · 23052240 · ISTRAC Lucknow</a:t>
            </a:r>
            <a:endParaRPr lang="en-US" sz="900" dirty="0"/>
          </a:p>
        </p:txBody>
      </p:sp>
      <p:sp>
        <p:nvSpPr>
          <p:cNvPr id="26" name="Text 24"/>
          <p:cNvSpPr/>
          <p:nvPr/>
        </p:nvSpPr>
        <p:spPr>
          <a:xfrm>
            <a:off x="11247120" y="6537960"/>
            <a:ext cx="548640" cy="274320"/>
          </a:xfrm>
          <a:prstGeom prst="rect">
            <a:avLst/>
          </a:prstGeom>
          <a:noFill/>
        </p:spPr>
        <p:txBody>
          <a:bodyPr wrap="square" rtlCol="0" anchor="ctr"/>
          <a:lstStyle/>
          <a:p>
            <a:pPr marL="0" indent="0" algn="r">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21 / 28</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p:spPr>
        <p:txBody>
          <a:bodyPr wrap="square" rtlCol="0" anchor="ctr"/>
          <a:lstStyle/>
          <a:p>
            <a:pPr marL="0" indent="0">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Scalability Design</a:t>
            </a:r>
            <a:endParaRPr lang="en-US" sz="3000" dirty="0"/>
          </a:p>
        </p:txBody>
      </p:sp>
      <p:graphicFrame>
        <p:nvGraphicFramePr>
          <p:cNvPr id="23" name="Table 0"/>
          <p:cNvGraphicFramePr>
            <a:graphicFrameLocks noGrp="1"/>
          </p:cNvGraphicFramePr>
          <p:nvPr/>
        </p:nvGraphicFramePr>
        <p:xfrm>
          <a:off x="640080" y="1645920"/>
          <a:ext cx="10881360" cy="3566160"/>
        </p:xfrm>
        <a:graphic>
          <a:graphicData uri="http://schemas.openxmlformats.org/drawingml/2006/table">
            <a:tbl>
              <a:tblPr/>
              <a:tblGrid>
                <a:gridCol w="3291840"/>
                <a:gridCol w="7589520"/>
              </a:tblGrid>
              <a:tr h="713232">
                <a:tc>
                  <a:txBody>
                    <a:bodyPr/>
                    <a:lstStyle/>
                    <a:p>
                      <a:pPr marL="0" indent="0">
                        <a:buNone/>
                      </a:pPr>
                      <a:r>
                        <a:rPr lang="en-US" sz="1350" b="1" dirty="0">
                          <a:solidFill>
                            <a:srgbClr val="FFFFFF"/>
                          </a:solidFill>
                        </a:rPr>
                        <a:t>Property</a:t>
                      </a:r>
                      <a:endParaRPr lang="en-US" sz="135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E2761"/>
                    </a:solidFill>
                  </a:tcPr>
                </a:tc>
                <a:tc>
                  <a:txBody>
                    <a:bodyPr/>
                    <a:lstStyle/>
                    <a:p>
                      <a:pPr marL="0" indent="0">
                        <a:buNone/>
                      </a:pPr>
                      <a:r>
                        <a:rPr lang="en-US" sz="1350" b="1" dirty="0">
                          <a:solidFill>
                            <a:srgbClr val="FFFFFF"/>
                          </a:solidFill>
                        </a:rPr>
                        <a:t>How It's Achieved</a:t>
                      </a:r>
                      <a:endParaRPr lang="en-US" sz="135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E2761"/>
                    </a:solidFill>
                  </a:tcPr>
                </a:tc>
              </a:tr>
              <a:tr h="713232">
                <a:tc>
                  <a:txBody>
                    <a:bodyPr/>
                    <a:lstStyle/>
                    <a:p>
                      <a:pPr marL="0" indent="0">
                        <a:buNone/>
                      </a:pPr>
                      <a:r>
                        <a:rPr lang="en-US" sz="1300" b="1" dirty="0">
                          <a:solidFill>
                            <a:srgbClr val="065A82"/>
                          </a:solidFill>
                        </a:rPr>
                        <a:t>Stateless services</a:t>
                      </a:r>
                      <a:endParaRPr lang="en-US" sz="13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50" dirty="0">
                          <a:solidFill>
                            <a:srgbClr val="1A1A1A"/>
                          </a:solidFill>
                        </a:rPr>
                        <a:t>Every service except WS Gateway holds no critical state — scales by adding replicas</a:t>
                      </a:r>
                      <a:endParaRPr lang="en-US" sz="125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713232">
                <a:tc>
                  <a:txBody>
                    <a:bodyPr/>
                    <a:lstStyle/>
                    <a:p>
                      <a:pPr marL="0" indent="0">
                        <a:buNone/>
                      </a:pPr>
                      <a:r>
                        <a:rPr lang="en-US" sz="1300" b="1" dirty="0">
                          <a:solidFill>
                            <a:srgbClr val="065A82"/>
                          </a:solidFill>
                        </a:rPr>
                        <a:t>Independent scaling</a:t>
                      </a:r>
                      <a:endParaRPr lang="en-US" sz="13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marL="0" indent="0">
                        <a:buNone/>
                      </a:pPr>
                      <a:r>
                        <a:rPr lang="en-US" sz="1250" dirty="0">
                          <a:solidFill>
                            <a:srgbClr val="1A1A1A"/>
                          </a:solidFill>
                        </a:rPr>
                        <a:t>Kafka consumer groups let parser/normalizer replicas scale separately</a:t>
                      </a:r>
                      <a:endParaRPr lang="en-US" sz="125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r>
              <a:tr h="713232">
                <a:tc>
                  <a:txBody>
                    <a:bodyPr/>
                    <a:lstStyle/>
                    <a:p>
                      <a:pPr marL="0" indent="0">
                        <a:buNone/>
                      </a:pPr>
                      <a:r>
                        <a:rPr lang="en-US" sz="1300" b="1" dirty="0">
                          <a:solidFill>
                            <a:srgbClr val="065A82"/>
                          </a:solidFill>
                        </a:rPr>
                        <a:t>Natural backpressure</a:t>
                      </a:r>
                      <a:endParaRPr lang="en-US" sz="13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50" dirty="0">
                          <a:solidFill>
                            <a:srgbClr val="1A1A1A"/>
                          </a:solidFill>
                        </a:rPr>
                        <a:t>Kafka retains messages if downstream falls behind — no event loss</a:t>
                      </a:r>
                      <a:endParaRPr lang="en-US" sz="125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713232">
                <a:tc>
                  <a:txBody>
                    <a:bodyPr/>
                    <a:lstStyle/>
                    <a:p>
                      <a:pPr marL="0" indent="0">
                        <a:buNone/>
                      </a:pPr>
                      <a:r>
                        <a:rPr lang="en-US" sz="1300" b="1" dirty="0">
                          <a:solidFill>
                            <a:srgbClr val="065A82"/>
                          </a:solidFill>
                        </a:rPr>
                        <a:t>Replay capability</a:t>
                      </a:r>
                      <a:endParaRPr lang="en-US" sz="13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marL="0" indent="0">
                        <a:buNone/>
                      </a:pPr>
                      <a:r>
                        <a:rPr lang="en-US" sz="1250" dirty="0">
                          <a:solidFill>
                            <a:srgbClr val="1A1A1A"/>
                          </a:solidFill>
                        </a:rPr>
                        <a:t>Any historical raw event can be reprocessed through an updated parser</a:t>
                      </a:r>
                      <a:endParaRPr lang="en-US" sz="125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r>
            </a:tbl>
          </a:graphicData>
        </a:graphic>
      </p:graphicFrame>
      <p:sp>
        <p:nvSpPr>
          <p:cNvPr id="4" name="Text 1"/>
          <p:cNvSpPr/>
          <p:nvPr/>
        </p:nvSpPr>
        <p:spPr>
          <a:xfrm>
            <a:off x="548640" y="6537960"/>
            <a:ext cx="7315200" cy="274320"/>
          </a:xfrm>
          <a:prstGeom prst="rect">
            <a:avLst/>
          </a:prstGeom>
          <a:noFill/>
        </p:spPr>
        <p:txBody>
          <a:bodyPr wrap="square" rtlCol="0" anchor="ctr"/>
          <a:lstStyle/>
          <a:p>
            <a:pPr marL="0" indent="0">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Dhruv Rathore · 23052240 · ISTRAC Lucknow</a:t>
            </a:r>
            <a:endParaRPr lang="en-US" sz="900" dirty="0"/>
          </a:p>
        </p:txBody>
      </p:sp>
      <p:sp>
        <p:nvSpPr>
          <p:cNvPr id="5" name="Text 2"/>
          <p:cNvSpPr/>
          <p:nvPr/>
        </p:nvSpPr>
        <p:spPr>
          <a:xfrm>
            <a:off x="11247120" y="6537960"/>
            <a:ext cx="548640" cy="274320"/>
          </a:xfrm>
          <a:prstGeom prst="rect">
            <a:avLst/>
          </a:prstGeom>
          <a:noFill/>
        </p:spPr>
        <p:txBody>
          <a:bodyPr wrap="square" rtlCol="0" anchor="ctr"/>
          <a:lstStyle/>
          <a:p>
            <a:pPr marL="0" indent="0" algn="r">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22 / 28</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p:spPr>
        <p:txBody>
          <a:bodyPr wrap="square" rtlCol="0" anchor="ctr"/>
          <a:lstStyle/>
          <a:p>
            <a:pPr marL="0" indent="0">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Results Achieved</a:t>
            </a:r>
            <a:endParaRPr lang="en-US" sz="3000" dirty="0"/>
          </a:p>
        </p:txBody>
      </p:sp>
      <p:sp>
        <p:nvSpPr>
          <p:cNvPr id="3" name="Shape 1"/>
          <p:cNvSpPr/>
          <p:nvPr/>
        </p:nvSpPr>
        <p:spPr>
          <a:xfrm>
            <a:off x="640080" y="1728216"/>
            <a:ext cx="310896" cy="310896"/>
          </a:xfrm>
          <a:prstGeom prst="ellipse">
            <a:avLst/>
          </a:prstGeom>
          <a:solidFill>
            <a:srgbClr val="2C5F2D"/>
          </a:solidFill>
        </p:spPr>
      </p:sp>
      <p:sp>
        <p:nvSpPr>
          <p:cNvPr id="4" name="Text 2"/>
          <p:cNvSpPr/>
          <p:nvPr/>
        </p:nvSpPr>
        <p:spPr>
          <a:xfrm>
            <a:off x="640080" y="1728216"/>
            <a:ext cx="310896" cy="310896"/>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5" name="Text 3"/>
          <p:cNvSpPr/>
          <p:nvPr/>
        </p:nvSpPr>
        <p:spPr>
          <a:xfrm>
            <a:off x="1143000" y="1691640"/>
            <a:ext cx="10332720" cy="502920"/>
          </a:xfrm>
          <a:prstGeom prst="rect">
            <a:avLst/>
          </a:prstGeom>
          <a:noFill/>
        </p:spPr>
        <p:txBody>
          <a:bodyPr wrap="square" rtlCol="0" anchor="ctr"/>
          <a:lstStyle/>
          <a:p>
            <a:pPr marL="0" indent="0">
              <a:buNone/>
            </a:pPr>
            <a:r>
              <a:rPr lang="en-US" sz="1600" dirty="0">
                <a:solidFill>
                  <a:srgbClr val="1A1A1A"/>
                </a:solidFill>
                <a:latin typeface="Calibri" panose="020F0502020204030204" pitchFamily="34" charset="0"/>
                <a:ea typeface="Calibri" panose="020F0502020204030204" pitchFamily="34" charset="-122"/>
                <a:cs typeface="Calibri" panose="020F0502020204030204" pitchFamily="34" charset="-120"/>
              </a:rPr>
              <a:t>Fully functional end-to-end pipeline — validated, not theoretical</a:t>
            </a:r>
            <a:endParaRPr lang="en-US" sz="1600" dirty="0"/>
          </a:p>
        </p:txBody>
      </p:sp>
      <p:sp>
        <p:nvSpPr>
          <p:cNvPr id="6" name="Shape 4"/>
          <p:cNvSpPr/>
          <p:nvPr/>
        </p:nvSpPr>
        <p:spPr>
          <a:xfrm>
            <a:off x="640080" y="2505456"/>
            <a:ext cx="310896" cy="310896"/>
          </a:xfrm>
          <a:prstGeom prst="ellipse">
            <a:avLst/>
          </a:prstGeom>
          <a:solidFill>
            <a:srgbClr val="2C5F2D"/>
          </a:solidFill>
        </p:spPr>
      </p:sp>
      <p:sp>
        <p:nvSpPr>
          <p:cNvPr id="7" name="Text 5"/>
          <p:cNvSpPr/>
          <p:nvPr/>
        </p:nvSpPr>
        <p:spPr>
          <a:xfrm>
            <a:off x="640080" y="2505456"/>
            <a:ext cx="310896" cy="310896"/>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8" name="Text 6"/>
          <p:cNvSpPr/>
          <p:nvPr/>
        </p:nvSpPr>
        <p:spPr>
          <a:xfrm>
            <a:off x="1143000" y="2468880"/>
            <a:ext cx="10332720" cy="502920"/>
          </a:xfrm>
          <a:prstGeom prst="rect">
            <a:avLst/>
          </a:prstGeom>
          <a:noFill/>
        </p:spPr>
        <p:txBody>
          <a:bodyPr wrap="square" rtlCol="0" anchor="ctr"/>
          <a:lstStyle/>
          <a:p>
            <a:pPr marL="0" indent="0">
              <a:buNone/>
            </a:pPr>
            <a:r>
              <a:rPr lang="en-US" sz="1600" dirty="0">
                <a:solidFill>
                  <a:srgbClr val="1A1A1A"/>
                </a:solidFill>
                <a:latin typeface="Calibri" panose="020F0502020204030204" pitchFamily="34" charset="0"/>
                <a:ea typeface="Calibri" panose="020F0502020204030204" pitchFamily="34" charset="-122"/>
                <a:cs typeface="Calibri" panose="020F0502020204030204" pitchFamily="34" charset="-120"/>
              </a:rPr>
              <a:t>Sub-second latency from ingestion to dashboard, consistently observed</a:t>
            </a:r>
            <a:endParaRPr lang="en-US" sz="1600" dirty="0"/>
          </a:p>
        </p:txBody>
      </p:sp>
      <p:sp>
        <p:nvSpPr>
          <p:cNvPr id="9" name="Shape 7"/>
          <p:cNvSpPr/>
          <p:nvPr/>
        </p:nvSpPr>
        <p:spPr>
          <a:xfrm>
            <a:off x="640080" y="3282696"/>
            <a:ext cx="310896" cy="310896"/>
          </a:xfrm>
          <a:prstGeom prst="ellipse">
            <a:avLst/>
          </a:prstGeom>
          <a:solidFill>
            <a:srgbClr val="2C5F2D"/>
          </a:solidFill>
        </p:spPr>
      </p:sp>
      <p:sp>
        <p:nvSpPr>
          <p:cNvPr id="10" name="Text 8"/>
          <p:cNvSpPr/>
          <p:nvPr/>
        </p:nvSpPr>
        <p:spPr>
          <a:xfrm>
            <a:off x="640080" y="3282696"/>
            <a:ext cx="310896" cy="310896"/>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11" name="Text 9"/>
          <p:cNvSpPr/>
          <p:nvPr/>
        </p:nvSpPr>
        <p:spPr>
          <a:xfrm>
            <a:off x="1143000" y="3246120"/>
            <a:ext cx="10332720" cy="502920"/>
          </a:xfrm>
          <a:prstGeom prst="rect">
            <a:avLst/>
          </a:prstGeom>
          <a:noFill/>
        </p:spPr>
        <p:txBody>
          <a:bodyPr wrap="square" rtlCol="0" anchor="ctr"/>
          <a:lstStyle/>
          <a:p>
            <a:pPr marL="0" indent="0">
              <a:buNone/>
            </a:pPr>
            <a:r>
              <a:rPr lang="en-US" sz="1600" dirty="0">
                <a:solidFill>
                  <a:srgbClr val="1A1A1A"/>
                </a:solidFill>
                <a:latin typeface="Calibri" panose="020F0502020204030204" pitchFamily="34" charset="0"/>
                <a:ea typeface="Calibri" panose="020F0502020204030204" pitchFamily="34" charset="-122"/>
                <a:cs typeface="Calibri" panose="020F0502020204030204" pitchFamily="34" charset="-120"/>
              </a:rPr>
              <a:t>Validated with HTTP and Kafka as simultaneous independent sources</a:t>
            </a:r>
            <a:endParaRPr lang="en-US" sz="1600" dirty="0"/>
          </a:p>
        </p:txBody>
      </p:sp>
      <p:sp>
        <p:nvSpPr>
          <p:cNvPr id="12" name="Shape 10"/>
          <p:cNvSpPr/>
          <p:nvPr/>
        </p:nvSpPr>
        <p:spPr>
          <a:xfrm>
            <a:off x="640080" y="4059936"/>
            <a:ext cx="310896" cy="310896"/>
          </a:xfrm>
          <a:prstGeom prst="ellipse">
            <a:avLst/>
          </a:prstGeom>
          <a:solidFill>
            <a:srgbClr val="2C5F2D"/>
          </a:solidFill>
        </p:spPr>
      </p:sp>
      <p:sp>
        <p:nvSpPr>
          <p:cNvPr id="13" name="Text 11"/>
          <p:cNvSpPr/>
          <p:nvPr/>
        </p:nvSpPr>
        <p:spPr>
          <a:xfrm>
            <a:off x="640080" y="4059936"/>
            <a:ext cx="310896" cy="310896"/>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14" name="Text 12"/>
          <p:cNvSpPr/>
          <p:nvPr/>
        </p:nvSpPr>
        <p:spPr>
          <a:xfrm>
            <a:off x="1143000" y="4023360"/>
            <a:ext cx="10332720" cy="502920"/>
          </a:xfrm>
          <a:prstGeom prst="rect">
            <a:avLst/>
          </a:prstGeom>
          <a:noFill/>
        </p:spPr>
        <p:txBody>
          <a:bodyPr wrap="square" rtlCol="0" anchor="ctr"/>
          <a:lstStyle/>
          <a:p>
            <a:pPr marL="0" indent="0">
              <a:buNone/>
            </a:pPr>
            <a:r>
              <a:rPr lang="en-US" sz="1600" dirty="0">
                <a:solidFill>
                  <a:srgbClr val="1A1A1A"/>
                </a:solidFill>
                <a:latin typeface="Calibri" panose="020F0502020204030204" pitchFamily="34" charset="0"/>
                <a:ea typeface="Calibri" panose="020F0502020204030204" pitchFamily="34" charset="-122"/>
                <a:cs typeface="Calibri" panose="020F0502020204030204" pitchFamily="34" charset="-120"/>
              </a:rPr>
              <a:t>Persistent storage validated to survive full system restart</a:t>
            </a:r>
            <a:endParaRPr lang="en-US" sz="1600" dirty="0"/>
          </a:p>
        </p:txBody>
      </p:sp>
      <p:sp>
        <p:nvSpPr>
          <p:cNvPr id="15" name="Shape 13"/>
          <p:cNvSpPr/>
          <p:nvPr/>
        </p:nvSpPr>
        <p:spPr>
          <a:xfrm>
            <a:off x="640080" y="4837176"/>
            <a:ext cx="310896" cy="310896"/>
          </a:xfrm>
          <a:prstGeom prst="ellipse">
            <a:avLst/>
          </a:prstGeom>
          <a:solidFill>
            <a:srgbClr val="2C5F2D"/>
          </a:solidFill>
        </p:spPr>
      </p:sp>
      <p:sp>
        <p:nvSpPr>
          <p:cNvPr id="16" name="Text 14"/>
          <p:cNvSpPr/>
          <p:nvPr/>
        </p:nvSpPr>
        <p:spPr>
          <a:xfrm>
            <a:off x="640080" y="4837176"/>
            <a:ext cx="310896" cy="310896"/>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17" name="Text 15"/>
          <p:cNvSpPr/>
          <p:nvPr/>
        </p:nvSpPr>
        <p:spPr>
          <a:xfrm>
            <a:off x="1143000" y="4800600"/>
            <a:ext cx="10332720" cy="502920"/>
          </a:xfrm>
          <a:prstGeom prst="rect">
            <a:avLst/>
          </a:prstGeom>
          <a:noFill/>
        </p:spPr>
        <p:txBody>
          <a:bodyPr wrap="square" rtlCol="0" anchor="ctr"/>
          <a:lstStyle/>
          <a:p>
            <a:pPr marL="0" indent="0">
              <a:buNone/>
            </a:pPr>
            <a:r>
              <a:rPr lang="en-US" sz="1600" dirty="0">
                <a:solidFill>
                  <a:srgbClr val="1A1A1A"/>
                </a:solidFill>
                <a:latin typeface="Calibri" panose="020F0502020204030204" pitchFamily="34" charset="0"/>
                <a:ea typeface="Calibri" panose="020F0502020204030204" pitchFamily="34" charset="-122"/>
                <a:cs typeface="Calibri" panose="020F0502020204030204" pitchFamily="34" charset="-120"/>
              </a:rPr>
              <a:t>Working authentication system with protected API routes</a:t>
            </a:r>
            <a:endParaRPr lang="en-US" sz="1600" dirty="0"/>
          </a:p>
        </p:txBody>
      </p:sp>
      <p:sp>
        <p:nvSpPr>
          <p:cNvPr id="18" name="Text 16"/>
          <p:cNvSpPr/>
          <p:nvPr/>
        </p:nvSpPr>
        <p:spPr>
          <a:xfrm>
            <a:off x="548640" y="6537960"/>
            <a:ext cx="7315200" cy="274320"/>
          </a:xfrm>
          <a:prstGeom prst="rect">
            <a:avLst/>
          </a:prstGeom>
          <a:noFill/>
        </p:spPr>
        <p:txBody>
          <a:bodyPr wrap="square" rtlCol="0" anchor="ctr"/>
          <a:lstStyle/>
          <a:p>
            <a:pPr marL="0" indent="0">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Dhruv Rathore · 23052240 · ISTRAC Lucknow</a:t>
            </a:r>
            <a:endParaRPr lang="en-US" sz="900" dirty="0"/>
          </a:p>
        </p:txBody>
      </p:sp>
      <p:sp>
        <p:nvSpPr>
          <p:cNvPr id="19" name="Text 17"/>
          <p:cNvSpPr/>
          <p:nvPr/>
        </p:nvSpPr>
        <p:spPr>
          <a:xfrm>
            <a:off x="11247120" y="6537960"/>
            <a:ext cx="548640" cy="274320"/>
          </a:xfrm>
          <a:prstGeom prst="rect">
            <a:avLst/>
          </a:prstGeom>
          <a:noFill/>
        </p:spPr>
        <p:txBody>
          <a:bodyPr wrap="square" rtlCol="0" anchor="ctr"/>
          <a:lstStyle/>
          <a:p>
            <a:pPr marL="0" indent="0" algn="r">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23 / 28</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p:spPr>
        <p:txBody>
          <a:bodyPr wrap="square" rtlCol="0" anchor="ctr"/>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Impact and Relevance to ISTRAC</a:t>
            </a:r>
            <a:endParaRPr lang="en-US" sz="2800" dirty="0"/>
          </a:p>
        </p:txBody>
      </p:sp>
      <p:sp>
        <p:nvSpPr>
          <p:cNvPr id="3" name="Text 1"/>
          <p:cNvSpPr/>
          <p:nvPr/>
        </p:nvSpPr>
        <p:spPr>
          <a:xfrm>
            <a:off x="640080" y="1645920"/>
            <a:ext cx="10881360" cy="2743200"/>
          </a:xfrm>
          <a:prstGeom prst="rect">
            <a:avLst/>
          </a:prstGeom>
          <a:noFill/>
        </p:spPr>
        <p:txBody>
          <a:bodyPr wrap="square" rtlCol="0" anchor="ctr"/>
          <a:lstStyle/>
          <a:p>
            <a:pPr marL="342900" indent="-342900">
              <a:spcAft>
                <a:spcPts val="1600"/>
              </a:spcAft>
              <a:buSzPct val="100000"/>
              <a:buChar char="•"/>
            </a:pPr>
            <a:r>
              <a:rPr lang="en-US" sz="1600" dirty="0">
                <a:solidFill>
                  <a:srgbClr val="FFFFFF"/>
                </a:solidFill>
                <a:latin typeface="Calibri" panose="020F0502020204030204" pitchFamily="34" charset="0"/>
                <a:ea typeface="Calibri" panose="020F0502020204030204" pitchFamily="34" charset="-122"/>
                <a:cs typeface="Calibri" panose="020F0502020204030204" pitchFamily="34" charset="-120"/>
              </a:rPr>
              <a:t>Ground station operations generate continuous, heterogeneous data streams</a:t>
            </a:r>
            <a:endParaRPr lang="en-US" sz="1600" dirty="0"/>
          </a:p>
          <a:p>
            <a:pPr marL="342900" indent="-342900">
              <a:spcAft>
                <a:spcPts val="1600"/>
              </a:spcAft>
              <a:buSzPct val="100000"/>
              <a:buChar char="•"/>
            </a:pPr>
            <a:r>
              <a:rPr lang="en-US" sz="1600" dirty="0">
                <a:solidFill>
                  <a:srgbClr val="FFFFFF"/>
                </a:solidFill>
                <a:latin typeface="Calibri" panose="020F0502020204030204" pitchFamily="34" charset="0"/>
                <a:ea typeface="Calibri" panose="020F0502020204030204" pitchFamily="34" charset="-122"/>
                <a:cs typeface="Calibri" panose="020F0502020204030204" pitchFamily="34" charset="-120"/>
              </a:rPr>
              <a:t>This architecture demonstrates a viable pattern for unified, format-agnostic monitoring</a:t>
            </a:r>
            <a:endParaRPr lang="en-US" sz="1600" dirty="0"/>
          </a:p>
          <a:p>
            <a:pPr marL="342900" indent="-342900">
              <a:spcAft>
                <a:spcPts val="1600"/>
              </a:spcAft>
              <a:buSzPct val="100000"/>
              <a:buChar char="•"/>
            </a:pPr>
            <a:r>
              <a:rPr lang="en-US" sz="1600" dirty="0">
                <a:solidFill>
                  <a:srgbClr val="FFFFFF"/>
                </a:solidFill>
                <a:latin typeface="Calibri" panose="020F0502020204030204" pitchFamily="34" charset="0"/>
                <a:ea typeface="Calibri" panose="020F0502020204030204" pitchFamily="34" charset="-122"/>
                <a:cs typeface="Calibri" panose="020F0502020204030204" pitchFamily="34" charset="-120"/>
              </a:rPr>
              <a:t>Reduces dependency on building a new parser/integration for every new data source</a:t>
            </a:r>
            <a:endParaRPr lang="en-US" sz="1600" dirty="0"/>
          </a:p>
          <a:p>
            <a:pPr marL="342900" indent="-342900">
              <a:spcAft>
                <a:spcPts val="1600"/>
              </a:spcAft>
              <a:buSzPct val="100000"/>
              <a:buChar char="•"/>
            </a:pPr>
            <a:r>
              <a:rPr lang="en-US" sz="1600" dirty="0">
                <a:solidFill>
                  <a:srgbClr val="FFFFFF"/>
                </a:solidFill>
                <a:latin typeface="Calibri" panose="020F0502020204030204" pitchFamily="34" charset="0"/>
                <a:ea typeface="Calibri" panose="020F0502020204030204" pitchFamily="34" charset="-122"/>
                <a:cs typeface="Calibri" panose="020F0502020204030204" pitchFamily="34" charset="-120"/>
              </a:rPr>
              <a:t>Prototype proves the underlying concept is sound and extensible</a:t>
            </a:r>
            <a:endParaRPr lang="en-US" sz="1600" dirty="0"/>
          </a:p>
        </p:txBody>
      </p:sp>
      <p:sp>
        <p:nvSpPr>
          <p:cNvPr id="4" name="Shape 2"/>
          <p:cNvSpPr/>
          <p:nvPr/>
        </p:nvSpPr>
        <p:spPr>
          <a:xfrm>
            <a:off x="640080" y="4846320"/>
            <a:ext cx="10881360" cy="1097280"/>
          </a:xfrm>
          <a:prstGeom prst="roundRect">
            <a:avLst>
              <a:gd name="adj" fmla="val 8333"/>
            </a:avLst>
          </a:prstGeom>
          <a:solidFill>
            <a:srgbClr val="27306B"/>
          </a:solidFill>
        </p:spPr>
      </p:sp>
      <p:sp>
        <p:nvSpPr>
          <p:cNvPr id="5" name="Text 3"/>
          <p:cNvSpPr/>
          <p:nvPr/>
        </p:nvSpPr>
        <p:spPr>
          <a:xfrm>
            <a:off x="640080" y="4846320"/>
            <a:ext cx="10881360" cy="1097280"/>
          </a:xfrm>
          <a:prstGeom prst="rect">
            <a:avLst/>
          </a:prstGeom>
          <a:noFill/>
        </p:spPr>
        <p:txBody>
          <a:bodyPr wrap="square" rtlCol="0" anchor="ctr"/>
          <a:lstStyle/>
          <a:p>
            <a:pPr marL="0" indent="0" algn="ctr">
              <a:buNone/>
            </a:pPr>
            <a:r>
              <a:rPr lang="en-US" sz="1800" b="1" dirty="0">
                <a:solidFill>
                  <a:srgbClr val="CADCFC"/>
                </a:solidFill>
                <a:latin typeface="Calibri" panose="020F0502020204030204" pitchFamily="34" charset="0"/>
                <a:ea typeface="Calibri" panose="020F0502020204030204" pitchFamily="34" charset="-122"/>
                <a:cs typeface="Calibri" panose="020F0502020204030204" pitchFamily="34" charset="-120"/>
              </a:rPr>
              <a:t>Problem  →  This Prototype  →  Operational Value</a:t>
            </a:r>
            <a:endParaRPr lang="en-US" sz="1800" dirty="0"/>
          </a:p>
        </p:txBody>
      </p:sp>
      <p:sp>
        <p:nvSpPr>
          <p:cNvPr id="6" name="Text 4"/>
          <p:cNvSpPr/>
          <p:nvPr/>
        </p:nvSpPr>
        <p:spPr>
          <a:xfrm>
            <a:off x="548640" y="6537960"/>
            <a:ext cx="7315200" cy="274320"/>
          </a:xfrm>
          <a:prstGeom prst="rect">
            <a:avLst/>
          </a:prstGeom>
          <a:noFill/>
        </p:spPr>
        <p:txBody>
          <a:bodyPr wrap="square" rtlCol="0" anchor="ctr"/>
          <a:lstStyle/>
          <a:p>
            <a:pPr marL="0" indent="0">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Dhruv Rathore · 23052240 · ISTRAC Lucknow</a:t>
            </a:r>
            <a:endParaRPr lang="en-US" sz="900" dirty="0"/>
          </a:p>
        </p:txBody>
      </p:sp>
      <p:sp>
        <p:nvSpPr>
          <p:cNvPr id="7" name="Text 5"/>
          <p:cNvSpPr/>
          <p:nvPr/>
        </p:nvSpPr>
        <p:spPr>
          <a:xfrm>
            <a:off x="11247120" y="6537960"/>
            <a:ext cx="548640" cy="274320"/>
          </a:xfrm>
          <a:prstGeom prst="rect">
            <a:avLst/>
          </a:prstGeom>
          <a:noFill/>
        </p:spPr>
        <p:txBody>
          <a:bodyPr wrap="square" rtlCol="0" anchor="ctr"/>
          <a:lstStyle/>
          <a:p>
            <a:pPr marL="0" indent="0" algn="r">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24 / 28</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p:spPr>
        <p:txBody>
          <a:bodyPr wrap="square" rtlCol="0" anchor="ctr"/>
          <a:lstStyle/>
          <a:p>
            <a:pPr marL="0" indent="0">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Limitations — Honest Assessment</a:t>
            </a:r>
            <a:endParaRPr lang="en-US" sz="3000" dirty="0"/>
          </a:p>
        </p:txBody>
      </p:sp>
      <p:sp>
        <p:nvSpPr>
          <p:cNvPr id="3" name="Text 1"/>
          <p:cNvSpPr/>
          <p:nvPr/>
        </p:nvSpPr>
        <p:spPr>
          <a:xfrm>
            <a:off x="640080" y="1828800"/>
            <a:ext cx="365760" cy="457200"/>
          </a:xfrm>
          <a:prstGeom prst="rect">
            <a:avLst/>
          </a:prstGeom>
          <a:noFill/>
        </p:spPr>
        <p:txBody>
          <a:bodyPr wrap="square" rtlCol="0" anchor="ctr"/>
          <a:lstStyle/>
          <a:p>
            <a:pPr marL="0" indent="0">
              <a:buNone/>
            </a:pPr>
            <a:r>
              <a:rPr lang="en-US" sz="1600" dirty="0">
                <a:solidFill>
                  <a:srgbClr val="5B6472"/>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4" name="Text 2"/>
          <p:cNvSpPr/>
          <p:nvPr/>
        </p:nvSpPr>
        <p:spPr>
          <a:xfrm>
            <a:off x="1051560" y="1828800"/>
            <a:ext cx="10424160" cy="548640"/>
          </a:xfrm>
          <a:prstGeom prst="rect">
            <a:avLst/>
          </a:prstGeom>
          <a:noFill/>
        </p:spPr>
        <p:txBody>
          <a:bodyPr wrap="square" rtlCol="0" anchor="ctr"/>
          <a:lstStyle/>
          <a:p>
            <a:pPr marL="0" indent="0">
              <a:buNone/>
            </a:pPr>
            <a:r>
              <a:rPr lang="en-US" sz="1600" dirty="0">
                <a:solidFill>
                  <a:srgbClr val="1A1A1A"/>
                </a:solidFill>
                <a:latin typeface="Calibri" panose="020F0502020204030204" pitchFamily="34" charset="0"/>
                <a:ea typeface="Calibri" panose="020F0502020204030204" pitchFamily="34" charset="-122"/>
                <a:cs typeface="Calibri" panose="020F0502020204030204" pitchFamily="34" charset="-120"/>
              </a:rPr>
              <a:t>Formal load/stress testing not yet performed at production scale</a:t>
            </a:r>
            <a:endParaRPr lang="en-US" sz="1600" dirty="0"/>
          </a:p>
        </p:txBody>
      </p:sp>
      <p:sp>
        <p:nvSpPr>
          <p:cNvPr id="5" name="Text 3"/>
          <p:cNvSpPr/>
          <p:nvPr/>
        </p:nvSpPr>
        <p:spPr>
          <a:xfrm>
            <a:off x="640080" y="2697480"/>
            <a:ext cx="365760" cy="457200"/>
          </a:xfrm>
          <a:prstGeom prst="rect">
            <a:avLst/>
          </a:prstGeom>
          <a:noFill/>
        </p:spPr>
        <p:txBody>
          <a:bodyPr wrap="square" rtlCol="0" anchor="ctr"/>
          <a:lstStyle/>
          <a:p>
            <a:pPr marL="0" indent="0">
              <a:buNone/>
            </a:pPr>
            <a:r>
              <a:rPr lang="en-US" sz="1600" dirty="0">
                <a:solidFill>
                  <a:srgbClr val="5B6472"/>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6" name="Text 4"/>
          <p:cNvSpPr/>
          <p:nvPr/>
        </p:nvSpPr>
        <p:spPr>
          <a:xfrm>
            <a:off x="1051560" y="2697480"/>
            <a:ext cx="10424160" cy="548640"/>
          </a:xfrm>
          <a:prstGeom prst="rect">
            <a:avLst/>
          </a:prstGeom>
          <a:noFill/>
        </p:spPr>
        <p:txBody>
          <a:bodyPr wrap="square" rtlCol="0" anchor="ctr"/>
          <a:lstStyle/>
          <a:p>
            <a:pPr marL="0" indent="0">
              <a:buNone/>
            </a:pPr>
            <a:r>
              <a:rPr lang="en-US" sz="1600" dirty="0">
                <a:solidFill>
                  <a:srgbClr val="1A1A1A"/>
                </a:solidFill>
                <a:latin typeface="Calibri" panose="020F0502020204030204" pitchFamily="34" charset="0"/>
                <a:ea typeface="Calibri" panose="020F0502020204030204" pitchFamily="34" charset="-122"/>
                <a:cs typeface="Calibri" panose="020F0502020204030204" pitchFamily="34" charset="-120"/>
              </a:rPr>
              <a:t>Additional parsers (CSV, XML, Syslog) designed but not yet implemented</a:t>
            </a:r>
            <a:endParaRPr lang="en-US" sz="1600" dirty="0"/>
          </a:p>
        </p:txBody>
      </p:sp>
      <p:sp>
        <p:nvSpPr>
          <p:cNvPr id="7" name="Text 5"/>
          <p:cNvSpPr/>
          <p:nvPr/>
        </p:nvSpPr>
        <p:spPr>
          <a:xfrm>
            <a:off x="640080" y="3566160"/>
            <a:ext cx="365760" cy="457200"/>
          </a:xfrm>
          <a:prstGeom prst="rect">
            <a:avLst/>
          </a:prstGeom>
          <a:noFill/>
        </p:spPr>
        <p:txBody>
          <a:bodyPr wrap="square" rtlCol="0" anchor="ctr"/>
          <a:lstStyle/>
          <a:p>
            <a:pPr marL="0" indent="0">
              <a:buNone/>
            </a:pPr>
            <a:r>
              <a:rPr lang="en-US" sz="1600" dirty="0">
                <a:solidFill>
                  <a:srgbClr val="5B6472"/>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8" name="Text 6"/>
          <p:cNvSpPr/>
          <p:nvPr/>
        </p:nvSpPr>
        <p:spPr>
          <a:xfrm>
            <a:off x="1051560" y="3566160"/>
            <a:ext cx="10424160" cy="548640"/>
          </a:xfrm>
          <a:prstGeom prst="rect">
            <a:avLst/>
          </a:prstGeom>
          <a:noFill/>
        </p:spPr>
        <p:txBody>
          <a:bodyPr wrap="square" rtlCol="0" anchor="ctr"/>
          <a:lstStyle/>
          <a:p>
            <a:pPr marL="0" indent="0">
              <a:buNone/>
            </a:pPr>
            <a:r>
              <a:rPr lang="en-US" sz="1600" dirty="0">
                <a:solidFill>
                  <a:srgbClr val="1A1A1A"/>
                </a:solidFill>
                <a:latin typeface="Calibri" panose="020F0502020204030204" pitchFamily="34" charset="0"/>
                <a:ea typeface="Calibri" panose="020F0502020204030204" pitchFamily="34" charset="-122"/>
                <a:cs typeface="Calibri" panose="020F0502020204030204" pitchFamily="34" charset="-120"/>
              </a:rPr>
              <a:t>Alert engine schema exists in database but notification logic not yet built</a:t>
            </a:r>
            <a:endParaRPr lang="en-US" sz="1600" dirty="0"/>
          </a:p>
        </p:txBody>
      </p:sp>
      <p:sp>
        <p:nvSpPr>
          <p:cNvPr id="9" name="Text 7"/>
          <p:cNvSpPr/>
          <p:nvPr/>
        </p:nvSpPr>
        <p:spPr>
          <a:xfrm>
            <a:off x="640080" y="4434840"/>
            <a:ext cx="365760" cy="457200"/>
          </a:xfrm>
          <a:prstGeom prst="rect">
            <a:avLst/>
          </a:prstGeom>
          <a:noFill/>
        </p:spPr>
        <p:txBody>
          <a:bodyPr wrap="square" rtlCol="0" anchor="ctr"/>
          <a:lstStyle/>
          <a:p>
            <a:pPr marL="0" indent="0">
              <a:buNone/>
            </a:pPr>
            <a:r>
              <a:rPr lang="en-US" sz="1600" dirty="0">
                <a:solidFill>
                  <a:srgbClr val="5B6472"/>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10" name="Text 8"/>
          <p:cNvSpPr/>
          <p:nvPr/>
        </p:nvSpPr>
        <p:spPr>
          <a:xfrm>
            <a:off x="1051560" y="4434840"/>
            <a:ext cx="10424160" cy="548640"/>
          </a:xfrm>
          <a:prstGeom prst="rect">
            <a:avLst/>
          </a:prstGeom>
          <a:noFill/>
        </p:spPr>
        <p:txBody>
          <a:bodyPr wrap="square" rtlCol="0" anchor="ctr"/>
          <a:lstStyle/>
          <a:p>
            <a:pPr marL="0" indent="0">
              <a:buNone/>
            </a:pPr>
            <a:r>
              <a:rPr lang="en-US" sz="1600" dirty="0">
                <a:solidFill>
                  <a:srgbClr val="1A1A1A"/>
                </a:solidFill>
                <a:latin typeface="Calibri" panose="020F0502020204030204" pitchFamily="34" charset="0"/>
                <a:ea typeface="Calibri" panose="020F0502020204030204" pitchFamily="34" charset="-122"/>
                <a:cs typeface="Calibri" panose="020F0502020204030204" pitchFamily="34" charset="-120"/>
              </a:rPr>
              <a:t>Single-node deployment — horizontal scaling validated architecturally, not load-tested</a:t>
            </a:r>
            <a:endParaRPr lang="en-US" sz="1600" dirty="0"/>
          </a:p>
        </p:txBody>
      </p:sp>
      <p:sp>
        <p:nvSpPr>
          <p:cNvPr id="11" name="Text 9"/>
          <p:cNvSpPr/>
          <p:nvPr/>
        </p:nvSpPr>
        <p:spPr>
          <a:xfrm>
            <a:off x="640080" y="5486400"/>
            <a:ext cx="10881360" cy="548640"/>
          </a:xfrm>
          <a:prstGeom prst="rect">
            <a:avLst/>
          </a:prstGeom>
          <a:noFill/>
        </p:spPr>
        <p:txBody>
          <a:bodyPr wrap="square" rtlCol="0" anchor="ctr"/>
          <a:lstStyle/>
          <a:p>
            <a:pPr marL="0" indent="0">
              <a:buNone/>
            </a:pPr>
            <a:r>
              <a:rPr lang="en-US" sz="1300" i="1" dirty="0">
                <a:solidFill>
                  <a:srgbClr val="5B6472"/>
                </a:solidFill>
                <a:latin typeface="Calibri" panose="020F0502020204030204" pitchFamily="34" charset="0"/>
                <a:ea typeface="Calibri" panose="020F0502020204030204" pitchFamily="34" charset="-122"/>
                <a:cs typeface="Calibri" panose="020F0502020204030204" pitchFamily="34" charset="-120"/>
              </a:rPr>
              <a:t>These are scoped decisions given the six-week timeframe, not oversights — each has a clear path forward.</a:t>
            </a:r>
            <a:endParaRPr lang="en-US" sz="1300" dirty="0"/>
          </a:p>
        </p:txBody>
      </p:sp>
      <p:sp>
        <p:nvSpPr>
          <p:cNvPr id="12" name="Text 10"/>
          <p:cNvSpPr/>
          <p:nvPr/>
        </p:nvSpPr>
        <p:spPr>
          <a:xfrm>
            <a:off x="548640" y="6537960"/>
            <a:ext cx="7315200" cy="274320"/>
          </a:xfrm>
          <a:prstGeom prst="rect">
            <a:avLst/>
          </a:prstGeom>
          <a:noFill/>
        </p:spPr>
        <p:txBody>
          <a:bodyPr wrap="square" rtlCol="0" anchor="ctr"/>
          <a:lstStyle/>
          <a:p>
            <a:pPr marL="0" indent="0">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Dhruv Rathore · 23052240 · ISTRAC Lucknow</a:t>
            </a:r>
            <a:endParaRPr lang="en-US" sz="900" dirty="0"/>
          </a:p>
        </p:txBody>
      </p:sp>
      <p:sp>
        <p:nvSpPr>
          <p:cNvPr id="13" name="Text 11"/>
          <p:cNvSpPr/>
          <p:nvPr/>
        </p:nvSpPr>
        <p:spPr>
          <a:xfrm>
            <a:off x="11247120" y="6537960"/>
            <a:ext cx="548640" cy="274320"/>
          </a:xfrm>
          <a:prstGeom prst="rect">
            <a:avLst/>
          </a:prstGeom>
          <a:noFill/>
        </p:spPr>
        <p:txBody>
          <a:bodyPr wrap="square" rtlCol="0" anchor="ctr"/>
          <a:lstStyle/>
          <a:p>
            <a:pPr marL="0" indent="0" algn="r">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25 / 28</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640080"/>
          </a:xfrm>
          <a:prstGeom prst="rect">
            <a:avLst/>
          </a:prstGeom>
          <a:noFill/>
        </p:spPr>
        <p:txBody>
          <a:bodyPr wrap="square" rtlCol="0" anchor="ctr"/>
          <a:lstStyle/>
          <a:p>
            <a:pPr marL="0" indent="0">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Lessons Learned</a:t>
            </a:r>
            <a:endParaRPr lang="en-US" sz="3000" dirty="0"/>
          </a:p>
        </p:txBody>
      </p:sp>
      <p:sp>
        <p:nvSpPr>
          <p:cNvPr id="3" name="Shape 1"/>
          <p:cNvSpPr/>
          <p:nvPr/>
        </p:nvSpPr>
        <p:spPr>
          <a:xfrm>
            <a:off x="640080" y="1737360"/>
            <a:ext cx="91440" cy="640080"/>
          </a:xfrm>
          <a:prstGeom prst="rect">
            <a:avLst/>
          </a:prstGeom>
          <a:solidFill>
            <a:srgbClr val="B85042"/>
          </a:solidFill>
        </p:spPr>
      </p:sp>
      <p:sp>
        <p:nvSpPr>
          <p:cNvPr id="4" name="Text 2"/>
          <p:cNvSpPr/>
          <p:nvPr/>
        </p:nvSpPr>
        <p:spPr>
          <a:xfrm>
            <a:off x="960120" y="1737360"/>
            <a:ext cx="10515600" cy="777240"/>
          </a:xfrm>
          <a:prstGeom prst="rect">
            <a:avLst/>
          </a:prstGeom>
          <a:noFill/>
        </p:spPr>
        <p:txBody>
          <a:bodyPr wrap="square" rtlCol="0" anchor="ctr"/>
          <a:lstStyle/>
          <a:p>
            <a:pPr marL="0" indent="0">
              <a:buNone/>
            </a:pPr>
            <a:r>
              <a:rPr lang="en-US" sz="1500" dirty="0">
                <a:solidFill>
                  <a:srgbClr val="1A1A1A"/>
                </a:solidFill>
                <a:latin typeface="Calibri" panose="020F0502020204030204" pitchFamily="34" charset="0"/>
                <a:ea typeface="Calibri" panose="020F0502020204030204" pitchFamily="34" charset="-122"/>
                <a:cs typeface="Calibri" panose="020F0502020204030204" pitchFamily="34" charset="-120"/>
              </a:rPr>
              <a:t>Distributed systems fail in ways unit tests don't catch — state corruption, timing, environment mismatches</a:t>
            </a:r>
            <a:endParaRPr lang="en-US" sz="1500" dirty="0"/>
          </a:p>
        </p:txBody>
      </p:sp>
      <p:sp>
        <p:nvSpPr>
          <p:cNvPr id="5" name="Shape 3"/>
          <p:cNvSpPr/>
          <p:nvPr/>
        </p:nvSpPr>
        <p:spPr>
          <a:xfrm>
            <a:off x="640080" y="2743200"/>
            <a:ext cx="91440" cy="640080"/>
          </a:xfrm>
          <a:prstGeom prst="rect">
            <a:avLst/>
          </a:prstGeom>
          <a:solidFill>
            <a:srgbClr val="B85042"/>
          </a:solidFill>
        </p:spPr>
      </p:sp>
      <p:sp>
        <p:nvSpPr>
          <p:cNvPr id="6" name="Text 4"/>
          <p:cNvSpPr/>
          <p:nvPr/>
        </p:nvSpPr>
        <p:spPr>
          <a:xfrm>
            <a:off x="960120" y="2743200"/>
            <a:ext cx="10515600" cy="777240"/>
          </a:xfrm>
          <a:prstGeom prst="rect">
            <a:avLst/>
          </a:prstGeom>
          <a:noFill/>
        </p:spPr>
        <p:txBody>
          <a:bodyPr wrap="square" rtlCol="0" anchor="ctr"/>
          <a:lstStyle/>
          <a:p>
            <a:pPr marL="0" indent="0">
              <a:buNone/>
            </a:pPr>
            <a:r>
              <a:rPr lang="en-US" sz="1500" dirty="0">
                <a:solidFill>
                  <a:srgbClr val="1A1A1A"/>
                </a:solidFill>
                <a:latin typeface="Calibri" panose="020F0502020204030204" pitchFamily="34" charset="0"/>
                <a:ea typeface="Calibri" panose="020F0502020204030204" pitchFamily="34" charset="-122"/>
                <a:cs typeface="Calibri" panose="020F0502020204030204" pitchFamily="34" charset="-120"/>
              </a:rPr>
              <a:t>Designing for extensibility upfront costs more time initially but pays off immediately when adding new sources</a:t>
            </a:r>
            <a:endParaRPr lang="en-US" sz="1500" dirty="0"/>
          </a:p>
        </p:txBody>
      </p:sp>
      <p:sp>
        <p:nvSpPr>
          <p:cNvPr id="7" name="Shape 5"/>
          <p:cNvSpPr/>
          <p:nvPr/>
        </p:nvSpPr>
        <p:spPr>
          <a:xfrm>
            <a:off x="640080" y="3749040"/>
            <a:ext cx="91440" cy="640080"/>
          </a:xfrm>
          <a:prstGeom prst="rect">
            <a:avLst/>
          </a:prstGeom>
          <a:solidFill>
            <a:srgbClr val="B85042"/>
          </a:solidFill>
        </p:spPr>
      </p:sp>
      <p:sp>
        <p:nvSpPr>
          <p:cNvPr id="8" name="Text 6"/>
          <p:cNvSpPr/>
          <p:nvPr/>
        </p:nvSpPr>
        <p:spPr>
          <a:xfrm>
            <a:off x="960120" y="3749040"/>
            <a:ext cx="10515600" cy="777240"/>
          </a:xfrm>
          <a:prstGeom prst="rect">
            <a:avLst/>
          </a:prstGeom>
          <a:noFill/>
        </p:spPr>
        <p:txBody>
          <a:bodyPr wrap="square" rtlCol="0" anchor="ctr"/>
          <a:lstStyle/>
          <a:p>
            <a:pPr marL="0" indent="0">
              <a:buNone/>
            </a:pPr>
            <a:r>
              <a:rPr lang="en-US" sz="1500" dirty="0">
                <a:solidFill>
                  <a:srgbClr val="1A1A1A"/>
                </a:solidFill>
                <a:latin typeface="Calibri" panose="020F0502020204030204" pitchFamily="34" charset="0"/>
                <a:ea typeface="Calibri" panose="020F0502020204030204" pitchFamily="34" charset="-122"/>
                <a:cs typeface="Calibri" panose="020F0502020204030204" pitchFamily="34" charset="-120"/>
              </a:rPr>
              <a:t>Reading error messages precisely — not just retrying — is the difference between a 5-minute fix and a 2-hour one</a:t>
            </a:r>
            <a:endParaRPr lang="en-US" sz="1500" dirty="0"/>
          </a:p>
        </p:txBody>
      </p:sp>
      <p:sp>
        <p:nvSpPr>
          <p:cNvPr id="9" name="Shape 7"/>
          <p:cNvSpPr/>
          <p:nvPr/>
        </p:nvSpPr>
        <p:spPr>
          <a:xfrm>
            <a:off x="640080" y="4754880"/>
            <a:ext cx="91440" cy="640080"/>
          </a:xfrm>
          <a:prstGeom prst="rect">
            <a:avLst/>
          </a:prstGeom>
          <a:solidFill>
            <a:srgbClr val="B85042"/>
          </a:solidFill>
        </p:spPr>
      </p:sp>
      <p:sp>
        <p:nvSpPr>
          <p:cNvPr id="10" name="Text 8"/>
          <p:cNvSpPr/>
          <p:nvPr/>
        </p:nvSpPr>
        <p:spPr>
          <a:xfrm>
            <a:off x="960120" y="4754880"/>
            <a:ext cx="10515600" cy="777240"/>
          </a:xfrm>
          <a:prstGeom prst="rect">
            <a:avLst/>
          </a:prstGeom>
          <a:noFill/>
        </p:spPr>
        <p:txBody>
          <a:bodyPr wrap="square" rtlCol="0" anchor="ctr"/>
          <a:lstStyle/>
          <a:p>
            <a:pPr marL="0" indent="0">
              <a:buNone/>
            </a:pPr>
            <a:r>
              <a:rPr lang="en-US" sz="1500" dirty="0">
                <a:solidFill>
                  <a:srgbClr val="1A1A1A"/>
                </a:solidFill>
                <a:latin typeface="Calibri" panose="020F0502020204030204" pitchFamily="34" charset="0"/>
                <a:ea typeface="Calibri" panose="020F0502020204030204" pitchFamily="34" charset="-122"/>
                <a:cs typeface="Calibri" panose="020F0502020204030204" pitchFamily="34" charset="-120"/>
              </a:rPr>
              <a:t>Clear service boundaries make a six-service system manageable for one person to build and debug</a:t>
            </a:r>
            <a:endParaRPr lang="en-US" sz="1500" dirty="0"/>
          </a:p>
        </p:txBody>
      </p:sp>
      <p:sp>
        <p:nvSpPr>
          <p:cNvPr id="11" name="Text 9"/>
          <p:cNvSpPr/>
          <p:nvPr/>
        </p:nvSpPr>
        <p:spPr>
          <a:xfrm>
            <a:off x="548640" y="6537960"/>
            <a:ext cx="7315200" cy="274320"/>
          </a:xfrm>
          <a:prstGeom prst="rect">
            <a:avLst/>
          </a:prstGeom>
          <a:noFill/>
        </p:spPr>
        <p:txBody>
          <a:bodyPr wrap="square" rtlCol="0" anchor="ctr"/>
          <a:lstStyle/>
          <a:p>
            <a:pPr marL="0" indent="0">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Dhruv Rathore · 23052240 · ISTRAC Lucknow</a:t>
            </a:r>
            <a:endParaRPr lang="en-US" sz="900" dirty="0"/>
          </a:p>
        </p:txBody>
      </p:sp>
      <p:sp>
        <p:nvSpPr>
          <p:cNvPr id="12" name="Text 10"/>
          <p:cNvSpPr/>
          <p:nvPr/>
        </p:nvSpPr>
        <p:spPr>
          <a:xfrm>
            <a:off x="11247120" y="6537960"/>
            <a:ext cx="548640" cy="274320"/>
          </a:xfrm>
          <a:prstGeom prst="rect">
            <a:avLst/>
          </a:prstGeom>
          <a:noFill/>
        </p:spPr>
        <p:txBody>
          <a:bodyPr wrap="square" rtlCol="0" anchor="ctr"/>
          <a:lstStyle/>
          <a:p>
            <a:pPr marL="0" indent="0" algn="r">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26 / 28</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p:spPr>
        <p:txBody>
          <a:bodyPr wrap="square" rtlCol="0" anchor="ctr"/>
          <a:lstStyle/>
          <a:p>
            <a:pPr marL="0" indent="0">
              <a:buNone/>
            </a:pPr>
            <a:r>
              <a:rPr lang="en-US" sz="30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Conclusion</a:t>
            </a:r>
            <a:endParaRPr lang="en-US" sz="3000" dirty="0"/>
          </a:p>
        </p:txBody>
      </p:sp>
      <p:sp>
        <p:nvSpPr>
          <p:cNvPr id="3" name="Shape 1"/>
          <p:cNvSpPr/>
          <p:nvPr/>
        </p:nvSpPr>
        <p:spPr>
          <a:xfrm>
            <a:off x="640080" y="1792224"/>
            <a:ext cx="146304" cy="146304"/>
          </a:xfrm>
          <a:prstGeom prst="ellipse">
            <a:avLst/>
          </a:prstGeom>
          <a:solidFill>
            <a:srgbClr val="CADCFC"/>
          </a:solidFill>
        </p:spPr>
      </p:sp>
      <p:sp>
        <p:nvSpPr>
          <p:cNvPr id="4" name="Text 2"/>
          <p:cNvSpPr/>
          <p:nvPr/>
        </p:nvSpPr>
        <p:spPr>
          <a:xfrm>
            <a:off x="1005840" y="1737360"/>
            <a:ext cx="10424160" cy="548640"/>
          </a:xfrm>
          <a:prstGeom prst="rect">
            <a:avLst/>
          </a:prstGeom>
          <a:noFill/>
        </p:spPr>
        <p:txBody>
          <a:bodyPr wrap="square" rtlCol="0" anchor="ctr"/>
          <a:lstStyle/>
          <a:p>
            <a:pPr marL="0" indent="0">
              <a:buNone/>
            </a:pPr>
            <a:r>
              <a:rPr lang="en-US" sz="1600" dirty="0">
                <a:solidFill>
                  <a:srgbClr val="FFFFFF"/>
                </a:solidFill>
                <a:latin typeface="Calibri" panose="020F0502020204030204" pitchFamily="34" charset="0"/>
                <a:ea typeface="Calibri" panose="020F0502020204030204" pitchFamily="34" charset="-122"/>
                <a:cs typeface="Calibri" panose="020F0502020204030204" pitchFamily="34" charset="-120"/>
              </a:rPr>
              <a:t>Built a complete, validated, end-to-end real-time event ingestion platform</a:t>
            </a:r>
            <a:endParaRPr lang="en-US" sz="1600" dirty="0"/>
          </a:p>
        </p:txBody>
      </p:sp>
      <p:sp>
        <p:nvSpPr>
          <p:cNvPr id="5" name="Shape 3"/>
          <p:cNvSpPr/>
          <p:nvPr/>
        </p:nvSpPr>
        <p:spPr>
          <a:xfrm>
            <a:off x="640080" y="2569464"/>
            <a:ext cx="146304" cy="146304"/>
          </a:xfrm>
          <a:prstGeom prst="ellipse">
            <a:avLst/>
          </a:prstGeom>
          <a:solidFill>
            <a:srgbClr val="CADCFC"/>
          </a:solidFill>
        </p:spPr>
      </p:sp>
      <p:sp>
        <p:nvSpPr>
          <p:cNvPr id="6" name="Text 4"/>
          <p:cNvSpPr/>
          <p:nvPr/>
        </p:nvSpPr>
        <p:spPr>
          <a:xfrm>
            <a:off x="1005840" y="2514600"/>
            <a:ext cx="10424160" cy="548640"/>
          </a:xfrm>
          <a:prstGeom prst="rect">
            <a:avLst/>
          </a:prstGeom>
          <a:noFill/>
        </p:spPr>
        <p:txBody>
          <a:bodyPr wrap="square" rtlCol="0" anchor="ctr"/>
          <a:lstStyle/>
          <a:p>
            <a:pPr marL="0" indent="0">
              <a:buNone/>
            </a:pPr>
            <a:r>
              <a:rPr lang="en-US" sz="1600" dirty="0">
                <a:solidFill>
                  <a:srgbClr val="FFFFFF"/>
                </a:solidFill>
                <a:latin typeface="Calibri" panose="020F0502020204030204" pitchFamily="34" charset="0"/>
                <a:ea typeface="Calibri" panose="020F0502020204030204" pitchFamily="34" charset="-122"/>
                <a:cs typeface="Calibri" panose="020F0502020204030204" pitchFamily="34" charset="-120"/>
              </a:rPr>
              <a:t>Demonstrated the "any source, any format" requirement with two independent live sources</a:t>
            </a:r>
            <a:endParaRPr lang="en-US" sz="1600" dirty="0"/>
          </a:p>
        </p:txBody>
      </p:sp>
      <p:sp>
        <p:nvSpPr>
          <p:cNvPr id="7" name="Shape 5"/>
          <p:cNvSpPr/>
          <p:nvPr/>
        </p:nvSpPr>
        <p:spPr>
          <a:xfrm>
            <a:off x="640080" y="3346704"/>
            <a:ext cx="146304" cy="146304"/>
          </a:xfrm>
          <a:prstGeom prst="ellipse">
            <a:avLst/>
          </a:prstGeom>
          <a:solidFill>
            <a:srgbClr val="CADCFC"/>
          </a:solidFill>
        </p:spPr>
      </p:sp>
      <p:sp>
        <p:nvSpPr>
          <p:cNvPr id="8" name="Text 6"/>
          <p:cNvSpPr/>
          <p:nvPr/>
        </p:nvSpPr>
        <p:spPr>
          <a:xfrm>
            <a:off x="1005840" y="3291840"/>
            <a:ext cx="10424160" cy="548640"/>
          </a:xfrm>
          <a:prstGeom prst="rect">
            <a:avLst/>
          </a:prstGeom>
          <a:noFill/>
        </p:spPr>
        <p:txBody>
          <a:bodyPr wrap="square" rtlCol="0" anchor="ctr"/>
          <a:lstStyle/>
          <a:p>
            <a:pPr marL="0" indent="0">
              <a:buNone/>
            </a:pPr>
            <a:r>
              <a:rPr lang="en-US" sz="1600" dirty="0">
                <a:solidFill>
                  <a:srgbClr val="FFFFFF"/>
                </a:solidFill>
                <a:latin typeface="Calibri" panose="020F0502020204030204" pitchFamily="34" charset="0"/>
                <a:ea typeface="Calibri" panose="020F0502020204030204" pitchFamily="34" charset="-122"/>
                <a:cs typeface="Calibri" panose="020F0502020204030204" pitchFamily="34" charset="-120"/>
              </a:rPr>
              <a:t>Established a foundation ready for Phase 2 expansion</a:t>
            </a:r>
            <a:endParaRPr lang="en-US" sz="1600" dirty="0"/>
          </a:p>
        </p:txBody>
      </p:sp>
      <p:sp>
        <p:nvSpPr>
          <p:cNvPr id="9" name="Shape 7"/>
          <p:cNvSpPr/>
          <p:nvPr/>
        </p:nvSpPr>
        <p:spPr>
          <a:xfrm>
            <a:off x="640080" y="4123944"/>
            <a:ext cx="146304" cy="146304"/>
          </a:xfrm>
          <a:prstGeom prst="ellipse">
            <a:avLst/>
          </a:prstGeom>
          <a:solidFill>
            <a:srgbClr val="CADCFC"/>
          </a:solidFill>
        </p:spPr>
      </p:sp>
      <p:sp>
        <p:nvSpPr>
          <p:cNvPr id="10" name="Text 8"/>
          <p:cNvSpPr/>
          <p:nvPr/>
        </p:nvSpPr>
        <p:spPr>
          <a:xfrm>
            <a:off x="1005840" y="4069080"/>
            <a:ext cx="10424160" cy="548640"/>
          </a:xfrm>
          <a:prstGeom prst="rect">
            <a:avLst/>
          </a:prstGeom>
          <a:noFill/>
        </p:spPr>
        <p:txBody>
          <a:bodyPr wrap="square" rtlCol="0" anchor="ctr"/>
          <a:lstStyle/>
          <a:p>
            <a:pPr marL="0" indent="0">
              <a:buNone/>
            </a:pPr>
            <a:r>
              <a:rPr lang="en-US" sz="1600" dirty="0">
                <a:solidFill>
                  <a:srgbClr val="FFFFFF"/>
                </a:solidFill>
                <a:latin typeface="Calibri" panose="020F0502020204030204" pitchFamily="34" charset="0"/>
                <a:ea typeface="Calibri" panose="020F0502020204030204" pitchFamily="34" charset="-122"/>
                <a:cs typeface="Calibri" panose="020F0502020204030204" pitchFamily="34" charset="-120"/>
              </a:rPr>
              <a:t>Delivered as a working prototype, not a concept or mockup</a:t>
            </a:r>
            <a:endParaRPr lang="en-US" sz="1600" dirty="0"/>
          </a:p>
        </p:txBody>
      </p:sp>
      <p:sp>
        <p:nvSpPr>
          <p:cNvPr id="11" name="Text 9"/>
          <p:cNvSpPr/>
          <p:nvPr/>
        </p:nvSpPr>
        <p:spPr>
          <a:xfrm>
            <a:off x="640080" y="5120640"/>
            <a:ext cx="10881360" cy="548640"/>
          </a:xfrm>
          <a:prstGeom prst="rect">
            <a:avLst/>
          </a:prstGeom>
          <a:noFill/>
        </p:spPr>
        <p:txBody>
          <a:bodyPr wrap="square" rtlCol="0" anchor="ctr"/>
          <a:lstStyle/>
          <a:p>
            <a:pPr marL="0" indent="0">
              <a:buNone/>
            </a:pPr>
            <a:r>
              <a:rPr lang="en-US" sz="1600" b="1" i="1" dirty="0">
                <a:solidFill>
                  <a:srgbClr val="CADCFC"/>
                </a:solidFill>
                <a:latin typeface="Calibri" panose="020F0502020204030204" pitchFamily="34" charset="0"/>
                <a:ea typeface="Calibri" panose="020F0502020204030204" pitchFamily="34" charset="-122"/>
                <a:cs typeface="Calibri" panose="020F0502020204030204" pitchFamily="34" charset="-120"/>
              </a:rPr>
              <a:t>What I'm presenting today is a working system, not a concept.</a:t>
            </a:r>
            <a:endParaRPr lang="en-US" sz="1600" dirty="0"/>
          </a:p>
        </p:txBody>
      </p:sp>
      <p:sp>
        <p:nvSpPr>
          <p:cNvPr id="12" name="Text 10"/>
          <p:cNvSpPr/>
          <p:nvPr/>
        </p:nvSpPr>
        <p:spPr>
          <a:xfrm>
            <a:off x="548640" y="6537960"/>
            <a:ext cx="7315200" cy="274320"/>
          </a:xfrm>
          <a:prstGeom prst="rect">
            <a:avLst/>
          </a:prstGeom>
          <a:noFill/>
        </p:spPr>
        <p:txBody>
          <a:bodyPr wrap="square" rtlCol="0" anchor="ctr"/>
          <a:lstStyle/>
          <a:p>
            <a:pPr marL="0" indent="0">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Dhruv Rathore · 23052240 · ISTRAC Lucknow</a:t>
            </a:r>
            <a:endParaRPr lang="en-US" sz="900" dirty="0"/>
          </a:p>
        </p:txBody>
      </p:sp>
      <p:sp>
        <p:nvSpPr>
          <p:cNvPr id="13" name="Text 11"/>
          <p:cNvSpPr/>
          <p:nvPr/>
        </p:nvSpPr>
        <p:spPr>
          <a:xfrm>
            <a:off x="11247120" y="6537960"/>
            <a:ext cx="548640" cy="274320"/>
          </a:xfrm>
          <a:prstGeom prst="rect">
            <a:avLst/>
          </a:prstGeom>
          <a:noFill/>
        </p:spPr>
        <p:txBody>
          <a:bodyPr wrap="square" rtlCol="0" anchor="ctr"/>
          <a:lstStyle/>
          <a:p>
            <a:pPr marL="0" indent="0" algn="r">
              <a:buNone/>
            </a:pPr>
            <a:r>
              <a:rPr lang="en-US" sz="900" dirty="0">
                <a:solidFill>
                  <a:srgbClr val="999999"/>
                </a:solidFill>
                <a:latin typeface="Calibri" panose="020F0502020204030204" pitchFamily="34" charset="0"/>
                <a:ea typeface="Calibri" panose="020F0502020204030204" pitchFamily="34" charset="-122"/>
                <a:cs typeface="Calibri" panose="020F0502020204030204" pitchFamily="34" charset="-120"/>
              </a:rPr>
              <a:t>27 / 28</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4" name="Text 2"/>
          <p:cNvSpPr/>
          <p:nvPr/>
        </p:nvSpPr>
        <p:spPr>
          <a:xfrm>
            <a:off x="0" y="2377440"/>
            <a:ext cx="12188952" cy="1005840"/>
          </a:xfrm>
          <a:prstGeom prst="rect">
            <a:avLst/>
          </a:prstGeom>
          <a:noFill/>
        </p:spPr>
        <p:txBody>
          <a:bodyPr wrap="square" rtlCol="0" anchor="ctr"/>
          <a:lstStyle/>
          <a:p>
            <a:pPr marL="0" indent="0" algn="ctr">
              <a:buNone/>
            </a:pPr>
            <a:r>
              <a:rPr lang="en-US" sz="4400" b="1" dirty="0">
                <a:solidFill>
                  <a:srgbClr val="FFFFFF"/>
                </a:solidFill>
                <a:latin typeface="Calibri" panose="020F0502020204030204" pitchFamily="34" charset="0"/>
                <a:ea typeface="Calibri" panose="020F0502020204030204" pitchFamily="34" charset="-122"/>
                <a:cs typeface="Calibri" panose="020F0502020204030204" pitchFamily="34" charset="-120"/>
              </a:rPr>
              <a:t>Thank You</a:t>
            </a:r>
            <a:endParaRPr lang="en-US" sz="4400" dirty="0"/>
          </a:p>
        </p:txBody>
      </p:sp>
      <p:sp>
        <p:nvSpPr>
          <p:cNvPr id="5" name="Text 3"/>
          <p:cNvSpPr/>
          <p:nvPr/>
        </p:nvSpPr>
        <p:spPr>
          <a:xfrm>
            <a:off x="0" y="3383280"/>
            <a:ext cx="12188952" cy="548640"/>
          </a:xfrm>
          <a:prstGeom prst="rect">
            <a:avLst/>
          </a:prstGeom>
          <a:noFill/>
        </p:spPr>
        <p:txBody>
          <a:bodyPr wrap="square" rtlCol="0" anchor="ctr"/>
          <a:lstStyle/>
          <a:p>
            <a:pPr marL="0" indent="0" algn="ctr">
              <a:buNone/>
            </a:pPr>
            <a:endParaRPr lang="en-US" sz="1800" dirty="0"/>
          </a:p>
        </p:txBody>
      </p:sp>
      <p:sp>
        <p:nvSpPr>
          <p:cNvPr id="6" name="Text 4"/>
          <p:cNvSpPr/>
          <p:nvPr/>
        </p:nvSpPr>
        <p:spPr>
          <a:xfrm>
            <a:off x="0" y="6035040"/>
            <a:ext cx="12188952" cy="365760"/>
          </a:xfrm>
          <a:prstGeom prst="rect">
            <a:avLst/>
          </a:prstGeom>
          <a:noFill/>
        </p:spPr>
        <p:txBody>
          <a:bodyPr wrap="square" rtlCol="0" anchor="ctr"/>
          <a:lstStyle/>
          <a:p>
            <a:pPr marL="0" indent="0" algn="ctr">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Dhruv Rathore  ·  23052240  ·  ISTRAC Lucknow</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9920</Words>
  <Application>WPS Presentation</Application>
  <PresentationFormat>On-screen Show (16:9)</PresentationFormat>
  <Paragraphs>551</Paragraphs>
  <Slides>27</Slides>
  <Notes>28</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27</vt:i4>
      </vt:variant>
    </vt:vector>
  </HeadingPairs>
  <TitlesOfParts>
    <vt:vector size="42" baseType="lpstr">
      <vt:lpstr>Arial</vt:lpstr>
      <vt:lpstr>SimSun</vt:lpstr>
      <vt:lpstr>Wingdings</vt:lpstr>
      <vt:lpstr>Calibri</vt:lpstr>
      <vt:lpstr>Calibri</vt:lpstr>
      <vt:lpstr>Calibri</vt:lpstr>
      <vt:lpstr>Cambria</vt:lpstr>
      <vt:lpstr>Cambria</vt:lpstr>
      <vt:lpstr>Cambria</vt:lpstr>
      <vt:lpstr>Courier New</vt:lpstr>
      <vt:lpstr>Courier New</vt:lpstr>
      <vt:lpstr>Courier New</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Universal Real-Time Event Ingestion and Observability Platform</dc:title>
  <dc:creator>Dhruv Rathore</dc:creator>
  <dc:subject>PptxGenJS Presentation</dc:subject>
  <cp:lastModifiedBy>KIIT0001</cp:lastModifiedBy>
  <cp:revision>2</cp:revision>
  <dcterms:created xsi:type="dcterms:W3CDTF">2026-06-20T21:44:00Z</dcterms:created>
  <dcterms:modified xsi:type="dcterms:W3CDTF">2026-06-22T05:28:31Z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696FA8CB2B484152A0EAB9E344E61065_12</vt:lpwstr>
  </property>
  <property fmtid="{D5CDD505-2E9C-101B-9397-08002B2CF9AE}" pid="3" name="KSOProductBuildVer">
    <vt:lpwstr>1033-12.1.0.26880</vt:lpwstr>
  </property>
</Properties>
</file>